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96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754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Spec-Driven Development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con Claude Code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</a:rPr>
              <a:t>Teoria e Pratica: Confronto tra Approcci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R&amp;D Team | Gamma SPA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Agenda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1. SDD - Le Ultime Teorie
</a:t>
            </a:r>
            <a:r>
              <a:rPr lang="en-US" sz="1400" dirty="0">
                <a:solidFill>
                  <a:srgbClr val="212121"/>
                </a:solidFill>
              </a:rPr>
              <a:t>   Principi fondamentali e best practices
</a:t>
            </a:r>
            <a:r>
              <a:rPr lang="en-US" sz="1800" b="1" dirty="0">
                <a:solidFill>
                  <a:srgbClr val="00A896"/>
                </a:solidFill>
              </a:rPr>
              <a:t>2. Workflow Lite
</a:t>
            </a:r>
            <a:r>
              <a:rPr lang="en-US" sz="1400" dirty="0">
                <a:solidFill>
                  <a:srgbClr val="212121"/>
                </a:solidFill>
              </a:rPr>
              <a:t>   Approccio rapido e MVP-first
</a:t>
            </a:r>
            <a:r>
              <a:rPr lang="en-US" sz="1800" b="1" dirty="0">
                <a:solidFill>
                  <a:srgbClr val="02C39A"/>
                </a:solidFill>
              </a:rPr>
              <a:t>3. Workflow Strutturato
</a:t>
            </a:r>
            <a:r>
              <a:rPr lang="en-US" sz="1400" dirty="0">
                <a:solidFill>
                  <a:srgbClr val="212121"/>
                </a:solidFill>
              </a:rPr>
              <a:t>   Preparazione → Analisi → Esecuzione
</a:t>
            </a:r>
            <a:r>
              <a:rPr lang="en-US" sz="1800" b="1" dirty="0">
                <a:solidFill>
                  <a:srgbClr val="1E2761"/>
                </a:solidFill>
              </a:rPr>
              <a:t>4. Confronto e Criteri Decisionali
</a:t>
            </a:r>
            <a:r>
              <a:rPr lang="en-US" sz="1400" dirty="0">
                <a:solidFill>
                  <a:srgbClr val="212121"/>
                </a:solidFill>
              </a:rPr>
              <a:t>   Quando usare quale approccio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Sezione 1: SDD - Le Ultime Teorie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</a:rPr>
              <a:t>Cos'è lo Spec-Driven Development con AI?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Principio Fondamentale
</a:t>
            </a:r>
            <a:r>
              <a:rPr lang="en-US" sz="1400" dirty="0">
                <a:solidFill>
                  <a:srgbClr val="212121"/>
                </a:solidFill>
              </a:rPr>
              <a:t>Specification → Context Engineering → AI Execution
</a:t>
            </a:r>
            <a:r>
              <a:rPr lang="en-US" sz="1600" b="1" dirty="0">
                <a:solidFill>
                  <a:srgbClr val="00A896"/>
                </a:solidFill>
              </a:rPr>
              <a:t>Vantaggi Chiave:
</a:t>
            </a:r>
            <a:r>
              <a:rPr lang="en-US" sz="1400" dirty="0">
                <a:solidFill>
                  <a:srgbClr val="212121"/>
                </a:solidFill>
              </a:rPr>
              <a:t>• Consistenza: Stesso input = stesso output
• Riproducibilità: Rifare progetto da zero è possibile
• Manutenibilità: Spec aggiornata = codice aggiornato
• Onboarding: Nuovi sviluppatori leggono la spec
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Componenti Essenziali di una SDD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657600" cy="3657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3291840" cy="3291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Documenti Core
</a:t>
            </a:r>
            <a:r>
              <a:rPr lang="en-US" sz="1400" b="1" dirty="0">
                <a:solidFill>
                  <a:srgbClr val="000000"/>
                </a:solidFill>
              </a:rPr>
              <a:t>📋 Project Overview
</a:t>
            </a:r>
            <a:r>
              <a:rPr lang="en-US" sz="1200" dirty="0">
                <a:solidFill>
                  <a:srgbClr val="212121"/>
                </a:solidFill>
              </a:rPr>
              <a:t>Scopo, context, obiettivi
</a:t>
            </a:r>
            <a:r>
              <a:rPr lang="en-US" sz="1400" b="1" dirty="0">
                <a:solidFill>
                  <a:srgbClr val="000000"/>
                </a:solidFill>
              </a:rPr>
              <a:t>🏗️ Architecture
</a:t>
            </a:r>
            <a:r>
              <a:rPr lang="en-US" sz="1200" dirty="0">
                <a:solidFill>
                  <a:srgbClr val="212121"/>
                </a:solidFill>
              </a:rPr>
              <a:t>Stack, struttura, layer
</a:t>
            </a:r>
            <a:r>
              <a:rPr lang="en-US" sz="1400" b="1" dirty="0">
                <a:solidFill>
                  <a:srgbClr val="000000"/>
                </a:solidFill>
              </a:rPr>
              <a:t>💻 Guidelines
</a:t>
            </a:r>
            <a:r>
              <a:rPr lang="en-US" sz="1200" dirty="0">
                <a:solidFill>
                  <a:srgbClr val="212121"/>
                </a:solidFill>
              </a:rPr>
              <a:t>Convenzioni, patterns
</a:t>
            </a:r>
            <a:r>
              <a:rPr lang="en-US" sz="1400" b="1" dirty="0">
                <a:solidFill>
                  <a:srgbClr val="000000"/>
                </a:solidFill>
              </a:rPr>
              <a:t>🧪 Testing Strategy
</a:t>
            </a:r>
            <a:r>
              <a:rPr lang="en-US" sz="1200" dirty="0">
                <a:solidFill>
                  <a:srgbClr val="212121"/>
                </a:solidFill>
              </a:rPr>
              <a:t>Cosa, come, coverage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371600"/>
            <a:ext cx="3657600" cy="3657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937760" y="1554480"/>
            <a:ext cx="3291840" cy="3291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</a:rPr>
              <a:t>File Speciali
</a:t>
            </a:r>
            <a:r>
              <a:rPr lang="en-US" sz="1400" b="1" dirty="0">
                <a:solidFill>
                  <a:srgbClr val="000000"/>
                </a:solidFill>
              </a:rPr>
              <a:t>📄 CLAUDE.md
</a:t>
            </a:r>
            <a:r>
              <a:rPr lang="en-US" sz="1200" dirty="0">
                <a:solidFill>
                  <a:srgbClr val="212121"/>
                </a:solidFill>
              </a:rPr>
              <a:t>Entry point, principi
</a:t>
            </a:r>
            <a:r>
              <a:rPr lang="en-US" sz="1400" b="1" dirty="0">
                <a:solidFill>
                  <a:srgbClr val="000000"/>
                </a:solidFill>
              </a:rPr>
              <a:t>⚙️ Enforcement Rules
</a:t>
            </a:r>
            <a:r>
              <a:rPr lang="en-US" sz="1200" dirty="0">
                <a:solidFill>
                  <a:srgbClr val="212121"/>
                </a:solidFill>
              </a:rPr>
              <a:t>LOC limits, quality gates
</a:t>
            </a:r>
            <a:r>
              <a:rPr lang="en-US" sz="1400" b="1" dirty="0">
                <a:solidFill>
                  <a:srgbClr val="000000"/>
                </a:solidFill>
              </a:rPr>
              <a:t>🗺️ Workflows
</a:t>
            </a:r>
            <a:r>
              <a:rPr lang="en-US" sz="1200" dirty="0">
                <a:solidFill>
                  <a:srgbClr val="212121"/>
                </a:solidFill>
              </a:rPr>
              <a:t>Development plan, map
</a:t>
            </a:r>
            <a:r>
              <a:rPr lang="en-US" sz="1400" b="1" dirty="0">
                <a:solidFill>
                  <a:srgbClr val="000000"/>
                </a:solidFill>
              </a:rPr>
              <a:t>📚 Domain Knowledge
</a:t>
            </a:r>
            <a:r>
              <a:rPr lang="en-US" sz="1200" dirty="0">
                <a:solidFill>
                  <a:srgbClr val="212121"/>
                </a:solidFill>
              </a:rPr>
              <a:t>Terminologia, rules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Best Practices Context Engineering per LLM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7315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45920" y="1417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1. Modularità della Documentazione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691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File separati per ogni concern (architecture, data-model, features)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7315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45920" y="2331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2. Referencing Esplicito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2606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Link tra documenti: "Per dettagli → architecture.md"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7680960" cy="7315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914400" y="3337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45920" y="3246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3. Istruzioni Quando Leggere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3520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"Leggi data-model.md se lavori su database" → autonomia LLM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114800"/>
            <a:ext cx="7680960" cy="7315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914400" y="4251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645920" y="4160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4. Balance Token Budget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4434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Non tutto in un file: &lt;5000 token/file, riferimenti per approfondire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Il ruolo del file CLAUDE.md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solidFill>
            <a:srgbClr val="028090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1188720" y="164592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CLAUDE.md è l'Entry Point della Configurazione
</a:t>
            </a:r>
            <a:r>
              <a:rPr lang="en-US" sz="1400" b="1" dirty="0">
                <a:solidFill>
                  <a:srgbClr val="02C39A"/>
                </a:solidFill>
              </a:rPr>
              <a:t>🎯 Scopo e Context del Progetto
</a:t>
            </a:r>
            <a:r>
              <a:rPr lang="en-US" sz="1200" dirty="0">
                <a:solidFill>
                  <a:srgbClr val="F5F5F5"/>
                </a:solidFill>
              </a:rPr>
              <a:t>   Cosa facciamo, perché, per chi
</a:t>
            </a:r>
            <a:r>
              <a:rPr lang="en-US" sz="1400" b="1" dirty="0">
                <a:solidFill>
                  <a:srgbClr val="02C39A"/>
                </a:solidFill>
              </a:rPr>
              <a:t>🧭 Principi Fondamentali NON NEGOZIABILI
</a:t>
            </a:r>
            <a:r>
              <a:rPr lang="en-US" sz="1200" dirty="0">
                <a:solidFill>
                  <a:srgbClr val="F5F5F5"/>
                </a:solidFill>
              </a:rPr>
              <a:t>   Database locale first, zero data loss, offline-first
</a:t>
            </a:r>
            <a:r>
              <a:rPr lang="en-US" sz="1400" b="1" dirty="0">
                <a:solidFill>
                  <a:srgbClr val="02C39A"/>
                </a:solidFill>
              </a:rPr>
              <a:t>📚 Struttura Documentazione
</a:t>
            </a:r>
            <a:r>
              <a:rPr lang="en-US" sz="1200" dirty="0">
                <a:solidFill>
                  <a:srgbClr val="F5F5F5"/>
                </a:solidFill>
              </a:rPr>
              <a:t>   Mappa file + quando leggerli ("Leggi X se lavori su Y")
</a:t>
            </a:r>
            <a:r>
              <a:rPr lang="en-US" sz="1400" b="1" dirty="0">
                <a:solidFill>
                  <a:srgbClr val="02C39A"/>
                </a:solidFill>
              </a:rPr>
              <a:t>🤖 Istruzioni Autonome per Claude
</a:t>
            </a:r>
            <a:r>
              <a:rPr lang="en-US" sz="1200" dirty="0">
                <a:solidFill>
                  <a:srgbClr val="F5F5F5"/>
                </a:solidFill>
              </a:rPr>
              <a:t>   Comportamento proattivo, monitoring automatico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Sezione 2: Workflow Lite del Collega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896"/>
                </a:solidFill>
              </a:rPr>
              <a:t>Filosofia: Quick Start, MVP-First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0" y="1645920"/>
            <a:ext cx="1371600" cy="13716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858000" y="173736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⚡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</a:rPr>
              <a:t>Approccio Rapido
</a:t>
            </a:r>
            <a:r>
              <a:rPr lang="en-US" sz="1400" dirty="0">
                <a:solidFill>
                  <a:srgbClr val="212121"/>
                </a:solidFill>
              </a:rPr>
              <a:t>• 3 prompt sequenziali per generare config
• Setup in 2-4 ore vs giorni
• Iterazione veloce
</a:t>
            </a:r>
            <a:r>
              <a:rPr lang="en-US" sz="1600" b="1" dirty="0">
                <a:solidFill>
                  <a:srgbClr val="00A896"/>
                </a:solidFill>
              </a:rPr>
              <a:t>Struttura Snella
</a:t>
            </a:r>
            <a:r>
              <a:rPr lang="en-US" sz="1400" dirty="0">
                <a:solidFill>
                  <a:srgbClr val="212121"/>
                </a:solidFill>
              </a:rPr>
              <a:t>• Cartella .claude/ con 6 file principali
• CLAUDE.md come entry point
• Cartella commands/ con prompt esecuzione
</a:t>
            </a:r>
            <a:r>
              <a:rPr lang="en-US" sz="1600" b="1" dirty="0">
                <a:solidFill>
                  <a:srgbClr val="00A896"/>
                </a:solidFill>
              </a:rPr>
              <a:t>Target
</a:t>
            </a:r>
            <a:r>
              <a:rPr lang="en-US" sz="1400" dirty="0">
                <a:solidFill>
                  <a:srgbClr val="212121"/>
                </a:solidFill>
              </a:rPr>
              <a:t>• MVP e prototipi
• Progetti &lt;1000 LOC
• 1-2 developer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A896"/>
                </a:solidFill>
              </a:rPr>
              <a:t>Struttura File &amp; Flusso - Workflow Lite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3840480"/>
          </a:xfrm>
          <a:prstGeom prst="rect">
            <a:avLst/>
          </a:prstGeom>
          <a:solidFill>
            <a:srgbClr val="2F2F2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ShoppingListLite/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.claude/
</a:t>
            </a: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CLAUDE.md
</a:t>
            </a: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architecture.md
│   ├── data-model.md
│   ├── features-mvp.md
│   ├── conventions.md
│   └── sync-strategy.md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commands/
</a:t>
            </a: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ExecuteTaskPrompt.txt
│   └── StartSessionPrompt.txt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prompts/
</a:t>
            </a: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1_AskForFeatures.txt
    ├── 2_AskForTechStacks.txt
    └── 3_GenerateConfig.txt
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37760" y="137160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</a:rPr>
              <a:t>File Chiave:
</a:t>
            </a:r>
            <a:r>
              <a:rPr lang="en-US" sz="1300" b="1" dirty="0">
                <a:solidFill>
                  <a:srgbClr val="000000"/>
                </a:solidFill>
              </a:rPr>
              <a:t>📄 CLAUDE.md
</a:t>
            </a:r>
            <a:r>
              <a:rPr lang="en-US" sz="1100" dirty="0">
                <a:solidFill>
                  <a:srgbClr val="212121"/>
                </a:solidFill>
              </a:rPr>
              <a:t>Panoramica, stack, comandi rapidi
</a:t>
            </a:r>
            <a:r>
              <a:rPr lang="en-US" sz="1300" b="1" dirty="0">
                <a:solidFill>
                  <a:srgbClr val="000000"/>
                </a:solidFill>
              </a:rPr>
              <a:t>🏗️ architecture.md
</a:t>
            </a:r>
            <a:r>
              <a:rPr lang="en-US" sz="1100" dirty="0">
                <a:solidFill>
                  <a:srgbClr val="212121"/>
                </a:solidFill>
              </a:rPr>
              <a:t>Stack dettagliato, setup iniziale
</a:t>
            </a:r>
            <a:r>
              <a:rPr lang="en-US" sz="1300" b="1" dirty="0">
                <a:solidFill>
                  <a:srgbClr val="000000"/>
                </a:solidFill>
              </a:rPr>
              <a:t>💾 data-model.md
</a:t>
            </a:r>
            <a:r>
              <a:rPr lang="en-US" sz="1100" dirty="0">
                <a:solidFill>
                  <a:srgbClr val="212121"/>
                </a:solidFill>
              </a:rPr>
              <a:t>Schema DB, interfaces TypeScript
</a:t>
            </a:r>
            <a:r>
              <a:rPr lang="en-US" sz="1300" b="1" dirty="0">
                <a:solidFill>
                  <a:srgbClr val="02C39A"/>
                </a:solidFill>
              </a:rPr>
              <a:t>⚡ Flusso Generazione:
</a:t>
            </a:r>
            <a:r>
              <a:rPr lang="en-US" sz="1100" dirty="0">
                <a:solidFill>
                  <a:srgbClr val="000000"/>
                </a:solidFill>
              </a:rPr>
              <a:t>1. Chiedi features desiderate
2. Chiedi tech stack preferiti
3. Genera tutti i file .claude/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A896"/>
                </a:solidFill>
              </a:rPr>
              <a:t>Esempio Concreto: ShoppingListLite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Snippet da CLAUDE.md:
</a:t>
            </a: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"Quando avvii un task, specifica quale area:
</a:t>
            </a: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🏗️ Setup iniziale → Leggi: architecture.md, data-model.md
📝 CRUD liste/articoli → Leggi: data-model.md, features-mvp.md
🔄 Sincronizzazione → Leggi: sync-strategy.md, data-model.md"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Caratteristiche Workflow Lite: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</a:rPr>
              <a:t>✅ Setup rapidissimo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12121"/>
                </a:solidFill>
              </a:rPr>
              <a:t>2-4 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</a:rPr>
              <a:t>✅ Configurazione minima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12121"/>
                </a:solidFill>
              </a:rPr>
              <a:t>6 file core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</a:rPr>
              <a:t>✅ Facile da capire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12121"/>
                </a:solidFill>
              </a:rPr>
              <a:t>Struttura flat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</a:rPr>
              <a:t>✅ Perfetto per MVP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12121"/>
                </a:solidFill>
              </a:rPr>
              <a:t>&lt;1000 LOC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</a:rPr>
              <a:t>⚠️ Scala meno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12121"/>
                </a:solidFill>
              </a:rPr>
              <a:t>Progetti complessi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</a:rPr>
              <a:t>⚠️ Enforcement manuale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12121"/>
                </a:solidFill>
              </a:rPr>
              <a:t>No LOC limits auto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A896"/>
                </a:solidFill>
              </a:rPr>
              <a:t>Workflow Lite: Pro e Contro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384048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</a:rPr>
              <a:t>✅ PRO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Setup rapido: 2-4 ore
• Low overhead cognitivo
• Ottimo per MVP piccoli
• Facile onboarding
• Iterazione velocissima
• Meno documenti da mantenere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1188720"/>
            <a:ext cx="3840480" cy="3840480"/>
          </a:xfrm>
          <a:prstGeom prst="rect">
            <a:avLst/>
          </a:prstGeom>
          <a:solidFill>
            <a:srgbClr val="FFEBEE"/>
          </a:solidFill>
          <a:ln w="254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12064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62828"/>
                </a:solidFill>
              </a:rPr>
              <a:t>⚠️ CONTRO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03520" y="182880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Scala male su &gt;2000 LOC
• Meno enforcement automatico
• Drift spec-codice più facile
• Onboarding difficile se cresce
• No analisi preliminare tech
• Meno struttura long-term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Sezione 3: Workflow Strutturato del Collega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</a:rPr>
              <a:t>Filosofia: Preparazione → Analisi → Esecuzione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0" y="1645920"/>
            <a:ext cx="1371600" cy="13716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858000" y="173736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🏗️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Approccio Metodico
</a:t>
            </a:r>
            <a:r>
              <a:rPr lang="en-US" sz="1400" dirty="0">
                <a:solidFill>
                  <a:srgbClr val="212121"/>
                </a:solidFill>
              </a:rPr>
              <a:t>• 3 fasi distinte e sequenziali
• Separazione planning-development
• Decisioni tecniche documentate
</a:t>
            </a:r>
            <a:r>
              <a:rPr lang="en-US" sz="1600" b="1" dirty="0">
                <a:solidFill>
                  <a:srgbClr val="02C39A"/>
                </a:solidFill>
              </a:rPr>
              <a:t>Struttura Articolata
</a:t>
            </a:r>
            <a:r>
              <a:rPr lang="en-US" sz="1400" dirty="0">
                <a:solidFill>
                  <a:srgbClr val="212121"/>
                </a:solidFill>
              </a:rPr>
              <a:t>• 1_config: Context e descrizione progetto
• 2_knowledge: Analisi framework e requisiti
• 3_ClaudeCode: Docs completi (7+ file)
</a:t>
            </a:r>
            <a:r>
              <a:rPr lang="en-US" sz="1600" b="1" dirty="0">
                <a:solidFill>
                  <a:srgbClr val="02C39A"/>
                </a:solidFill>
              </a:rPr>
              <a:t>Target
</a:t>
            </a:r>
            <a:r>
              <a:rPr lang="en-US" sz="1400" dirty="0">
                <a:solidFill>
                  <a:srgbClr val="212121"/>
                </a:solidFill>
              </a:rPr>
              <a:t>• Progetti production
• &gt;2000 LOC, team distribuito
• Manutenzione long-term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C39A"/>
                </a:solidFill>
              </a:rPr>
              <a:t>Le 3 Fasi del Workflow Strutturato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9144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1097280" y="15087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737360" y="14630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FASE 1: Configuration (1_config/)
</a:t>
            </a:r>
            <a:r>
              <a:rPr lang="en-US" sz="1000" i="1" dirty="0">
                <a:solidFill>
                  <a:srgbClr val="000000"/>
                </a:solidFill>
              </a:rPr>
              <a:t>ProjectContext.md • ProjectDescription.txt • ProjectInstructions.md
</a:t>
            </a:r>
            <a:r>
              <a:rPr lang="en-US" sz="1200" dirty="0">
                <a:solidFill>
                  <a:srgbClr val="000000"/>
                </a:solidFill>
              </a:rPr>
              <a:t>→ Definizione chiara del problema e obiettivi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7315200" cy="9144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097280" y="26060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A896"/>
                </a:solidFill>
              </a:rPr>
              <a:t>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737360" y="25603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</a:rPr>
              <a:t>FASE 2: Knowledge (2_knowledge/)
</a:t>
            </a:r>
            <a:r>
              <a:rPr lang="en-US" sz="1000" i="1" dirty="0">
                <a:solidFill>
                  <a:srgbClr val="000000"/>
                </a:solidFill>
              </a:rPr>
              <a:t>FrameworkAnalysis.md • SoftwareRequirements.md
</a:t>
            </a:r>
            <a:r>
              <a:rPr lang="en-US" sz="1200" dirty="0">
                <a:solidFill>
                  <a:srgbClr val="000000"/>
                </a:solidFill>
              </a:rPr>
              <a:t>→ Valutazione tecnologie e requisiti dettagliati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3566160"/>
            <a:ext cx="7315200" cy="9144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097280" y="37033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C39A"/>
                </a:solidFill>
              </a:rPr>
              <a:t>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737360" y="3657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</a:rPr>
              <a:t>FASE 3: ClaudeCode (3_ClaudeCode/.claude/)
</a:t>
            </a:r>
            <a:r>
              <a:rPr lang="en-US" sz="1000" i="1" dirty="0">
                <a:solidFill>
                  <a:srgbClr val="000000"/>
                </a:solidFill>
              </a:rPr>
              <a:t>CLAUDE.md • docs/ (7 file) • workflows/ (development-plan, project-map)
</a:t>
            </a:r>
            <a:r>
              <a:rPr lang="en-US" sz="1200" dirty="0">
                <a:solidFill>
                  <a:srgbClr val="000000"/>
                </a:solidFill>
              </a:rPr>
              <a:t>→ Documentazione esaustiva per sviluppo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Output finale: Spec completa pronta per execution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C39A"/>
                </a:solidFill>
              </a:rPr>
              <a:t>Fase 3 ClaudeCode: Struttura Completa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114800" cy="3840480"/>
          </a:xfrm>
          <a:prstGeom prst="rect">
            <a:avLst/>
          </a:prstGeom>
          <a:solidFill>
            <a:srgbClr val="2F2F2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3_ClaudeCode/
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.claude/
</a:t>
            </a: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CLAUDE.md
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docs/
</a:t>
            </a: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architecture.md
    │   ├── project-overview.md
    │   ├── development-guidelines.md
    │   ├── enforcement-rules.md
    │   ├── testing-strategy.md
    │   └── universal-practices.md
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workflows/
</a:t>
            </a: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development-plan.md
        └── project-map.md
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20640" y="137160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</a:rPr>
              <a:t>Enforcement Rules:
</a:t>
            </a:r>
            <a:r>
              <a:rPr lang="en-US" sz="1200" b="1" dirty="0">
                <a:solidFill>
                  <a:srgbClr val="212121"/>
                </a:solidFill>
              </a:rPr>
              <a:t>⚙️ File max 200 LOC
</a:t>
            </a:r>
            <a:r>
              <a:rPr lang="en-US" sz="1100" dirty="0">
                <a:solidFill>
                  <a:srgbClr val="212121"/>
                </a:solidFill>
              </a:rPr>
              <a:t>A 150+ → refactoring automatico
</a:t>
            </a:r>
            <a:r>
              <a:rPr lang="en-US" sz="1200" b="1" dirty="0">
                <a:solidFill>
                  <a:srgbClr val="212121"/>
                </a:solidFill>
              </a:rPr>
              <a:t>⚙️ Funzioni max 20 LOC
</a:t>
            </a:r>
            <a:r>
              <a:rPr lang="en-US" sz="1100" dirty="0">
                <a:solidFill>
                  <a:srgbClr val="212121"/>
                </a:solidFill>
              </a:rPr>
              <a:t>Estrazione sotto-funzioni
</a:t>
            </a:r>
            <a:r>
              <a:rPr lang="en-US" sz="1200" b="1" dirty="0">
                <a:solidFill>
                  <a:srgbClr val="212121"/>
                </a:solidFill>
              </a:rPr>
              <a:t>⚙️ Test coverage &gt;80%
</a:t>
            </a:r>
            <a:r>
              <a:rPr lang="en-US" sz="1100" dirty="0">
                <a:solidFill>
                  <a:srgbClr val="212121"/>
                </a:solidFill>
              </a:rPr>
              <a:t>Business logic obbligatorio
</a:t>
            </a:r>
            <a:r>
              <a:rPr lang="en-US" sz="1200" b="1" dirty="0">
                <a:solidFill>
                  <a:srgbClr val="212121"/>
                </a:solidFill>
              </a:rPr>
              <a:t>⚙️ Zero TypeScript any
</a:t>
            </a:r>
            <a:r>
              <a:rPr lang="en-US" sz="1100" dirty="0">
                <a:solidFill>
                  <a:srgbClr val="212121"/>
                </a:solidFill>
              </a:rPr>
              <a:t>Strict mode abilitato
</a:t>
            </a:r>
            <a:r>
              <a:rPr lang="en-US" sz="1200" b="1" dirty="0">
                <a:solidFill>
                  <a:srgbClr val="212121"/>
                </a:solidFill>
              </a:rPr>
              <a:t>⚙️ Offline-first SEMPRE
</a:t>
            </a:r>
            <a:r>
              <a:rPr lang="en-US" sz="1100" dirty="0">
                <a:solidFill>
                  <a:srgbClr val="212121"/>
                </a:solidFill>
              </a:rPr>
              <a:t>DB locale → UI → sync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C39A"/>
                </a:solidFill>
              </a:rPr>
              <a:t>Esempio: Enforcement Rules in Azione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3840480"/>
          </a:xfrm>
          <a:prstGeom prst="rect">
            <a:avLst/>
          </a:prstGeom>
          <a:solidFill>
            <a:srgbClr val="F5F5F5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1097280" y="1463040"/>
            <a:ext cx="6949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Snippet da enforcement-rules.md:
</a:t>
            </a: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"File approccio 150 LOC:
</a:t>
            </a:r>
            <a:r>
              <a:rPr lang="en-US" sz="1000" i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 notato che questo file sta raggiungendo 150 LOC.
Suggerisco di estrarre [funzionalità] in modulo separato.
Vuoi che proceda con il refactoring?
</a:t>
            </a: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supera 180 LOC:
</a:t>
            </a:r>
            <a:r>
              <a:rPr lang="en-US" sz="1000" b="1" dirty="0">
                <a:solidFill>
                  <a:srgbClr val="D32F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ATTENZIONE: File a 180 LOC (limite 200).
</a:t>
            </a:r>
            <a:r>
              <a:rPr lang="en-US" sz="1000" i="1" dirty="0">
                <a:solidFill>
                  <a:srgbClr val="D32F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 fare refactoring prima di aggiungere altro codice."
</a:t>
            </a:r>
            <a:r>
              <a:rPr lang="en-US" sz="1200" b="1" dirty="0">
                <a:solidFill>
                  <a:srgbClr val="00A896"/>
                </a:solidFill>
              </a:rPr>
              <a:t>→ Claude è PROATTIVO nel monitoraggio qualità
→ Enforcement automatico senza intervento umano
→ Previene technical debt prima che si accumuli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C39A"/>
                </a:solidFill>
              </a:rPr>
              <a:t>Workflow Strutturato: Pro e Contro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384048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</a:rPr>
              <a:t>✅ PRO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Scalabilità enterprise
• Documentazione esaustiva
• Enforcement qualità automatico
• Analisi tecnologie preventiva
• Onboarding strutturato
• Manutenzione long-term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1188720"/>
            <a:ext cx="3840480" cy="3840480"/>
          </a:xfrm>
          <a:prstGeom prst="rect">
            <a:avLst/>
          </a:prstGeom>
          <a:solidFill>
            <a:srgbClr val="FFEBEE"/>
          </a:solidFill>
          <a:ln w="254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12064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62828"/>
                </a:solidFill>
              </a:rPr>
              <a:t>⚠️ CONTRO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03520" y="182880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Setup time: 1-2 giorni
• Overhead per progetti piccoli
• Curva apprendimento 3 fasi
• Più documenti da mantenere
• Rigidità iniziale
• Overkill per PoC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Sezione 4: Confronto e Criteri Decisionali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</a:rPr>
              <a:t>Confronto Strutturale Side-by-Side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228600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Aspetto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08960" y="1645920"/>
            <a:ext cx="2743200" cy="365760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Workflow Lite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645920"/>
            <a:ext cx="274320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Workflow Strutturato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029968"/>
            <a:ext cx="22860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File Count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0" y="2029968"/>
            <a:ext cx="27432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6 file 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2029968"/>
            <a:ext cx="27432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10+ file (3 fasi)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2286000" cy="36576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Setup Time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0" y="2414016"/>
            <a:ext cx="2743200" cy="36576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2-4 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2414016"/>
            <a:ext cx="2743200" cy="36576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1-2 giorni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798064"/>
            <a:ext cx="22860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Complessità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2798064"/>
            <a:ext cx="27432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Bassa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2798064"/>
            <a:ext cx="27432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Media-Alta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182112"/>
            <a:ext cx="2286000" cy="36576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Fasi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3182112"/>
            <a:ext cx="2743200" cy="36576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1 fase (generazione)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3182112"/>
            <a:ext cx="2743200" cy="36576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3 fasi (config→knowledge→code)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Enforcement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08960" y="3566160"/>
            <a:ext cx="27432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Manuale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3566160"/>
            <a:ext cx="27432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Automatico (LOC, test, TS)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3950208"/>
            <a:ext cx="2286000" cy="36576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Analisi Tech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08960" y="3950208"/>
            <a:ext cx="2743200" cy="36576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Nessuna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3950208"/>
            <a:ext cx="2743200" cy="36576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FrameworkAnalysis.md completo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334256"/>
            <a:ext cx="22860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Manutenibilità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08960" y="4334256"/>
            <a:ext cx="27432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Buona (&lt;1000 LOC)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4334256"/>
            <a:ext cx="27432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Eccellente (enterprise)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718304"/>
            <a:ext cx="2286000" cy="36576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Target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08960" y="4718304"/>
            <a:ext cx="2743200" cy="36576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MVP, PoC, prototipi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4718304"/>
            <a:ext cx="2743200" cy="36576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Production, team, long-term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Matrice Decisionale: Quando Usare Cosa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1371600" y="5120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Dimensione Progetto 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65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m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z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e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↓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0" y="3474720"/>
            <a:ext cx="3200400" cy="1371600"/>
          </a:xfrm>
          <a:prstGeom prst="rect">
            <a:avLst/>
          </a:prstGeom>
          <a:solidFill>
            <a:srgbClr val="00A896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097280" y="38404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WORKFLOW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LITE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26080" y="2560320"/>
            <a:ext cx="3200400" cy="1828800"/>
          </a:xfrm>
          <a:prstGeom prst="rect">
            <a:avLst/>
          </a:prstGeom>
          <a:solidFill>
            <a:srgbClr val="FFA726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926080" y="283464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TRANSIZIONE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 SCELTA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CONTESTUALE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3200400" cy="2286000"/>
          </a:xfrm>
          <a:prstGeom prst="rect">
            <a:avLst/>
          </a:prstGeom>
          <a:solidFill>
            <a:srgbClr val="02C39A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WORKFLOW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STRUTTURATO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PoC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MVP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Prod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Enterprise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389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1-2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2-3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5+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Criteri Pratici di Scelta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1463040"/>
          </a:xfrm>
          <a:prstGeom prst="rect">
            <a:avLst/>
          </a:prstGeom>
          <a:solidFill>
            <a:srgbClr val="E8F5E9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</a:rPr>
              <a:t>✅ Usa WORKFLOW LITE se: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PoC o MVP da validare rapidamente (&lt;1000 LOC)
• 1-2 developer, no team distribuito
• Learning/sperimentazione con Claude Code
• Budget tempo limitato, priorità speed-to-market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7680960" cy="1463040"/>
          </a:xfrm>
          <a:prstGeom prst="rect">
            <a:avLst/>
          </a:prstGeom>
          <a:solidFill>
            <a:srgbClr val="FFF3E0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🏗️ Usa WORKFLOW STRUTTURATO se: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Progetto production (&gt;2000 LOC previsti)
• Team 3+ persone o distribuito geograficamente
• Requisiti complessi, analisi tecnologie critica
• Manutenzione long-term (&gt;1 anno), scalabilità importante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💡 Percorso di Migrazione: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029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12121"/>
                </a:solidFill>
              </a:rPr>
              <a:t>Puoi iniziare con Lite e migrare a Strutturato quando il progetto cresce.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12121"/>
                </a:solidFill>
              </a:rPr>
              <a:t>Segnali: file &gt;200 LOC, drift spec-codice, onboarding difficile, team &gt;2 persone.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63040" y="1371600"/>
            <a:ext cx="694944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645920" y="141732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Entrambi gli Approcci sono Validi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66420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Non esiste un "migliore" assoluto: dipende dal contesto, team, obiettivi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463040" y="2103120"/>
            <a:ext cx="694944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645920" y="214884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SDD Migliora Qualità Codice con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239572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Specification chiara → output Claude più accurato, consistente, manutenibile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2880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82296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463040" y="2834640"/>
            <a:ext cx="694944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645920" y="288036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Lite: Speed to Market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45920" y="312724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Ottimizzato per validazione rapida idee, MVP, apprendimento Claude Code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6118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82296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463040" y="3566160"/>
            <a:ext cx="694944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645920" y="361188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Strutturato: Robustezza Production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45920" y="385876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Pensato per scalabilità, team, enforcement automatico qualità, long-term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82296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463040" y="4297680"/>
            <a:ext cx="694944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1645920" y="434340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Migrazione Possibile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45920" y="459028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Puoi evolvere da Lite a Strutturato quando necessario (non scelta irreversibile)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3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Giudizio Finale: Aderenza alle Teorie SDD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742493"/>
            <a:ext cx="3840480" cy="1828800"/>
          </a:xfrm>
          <a:prstGeom prst="rect">
            <a:avLst/>
          </a:prstGeom>
          <a:solidFill>
            <a:srgbClr val="E3F2FD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822960" y="925373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</a:rPr>
              <a:t>Workflow Lite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336853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✅ È SDD? Sì, assolutamente
✅ Fatto bene? Sì, per MVP rapidi
⚠️ Cutting-edge? No, pragmatico
</a:t>
            </a:r>
            <a:r>
              <a:rPr lang="en-US" sz="1000" b="1" dirty="0">
                <a:solidFill>
                  <a:srgbClr val="00A896"/>
                </a:solidFill>
              </a:rPr>
              <a:t>Quando sceglierlo:
</a:t>
            </a:r>
            <a:r>
              <a:rPr lang="en-US" sz="1000" i="1" dirty="0">
                <a:solidFill>
                  <a:srgbClr val="212121"/>
                </a:solidFill>
              </a:rPr>
              <a:t>Velocità &gt; Sofisticazione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742493"/>
            <a:ext cx="3840480" cy="1828800"/>
          </a:xfrm>
          <a:prstGeom prst="rect">
            <a:avLst/>
          </a:prstGeom>
          <a:solidFill>
            <a:srgbClr val="FFF3E0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029200" y="925373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Workflow Strutturato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12080" y="1336853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✅ È SDD? Sì
✅ Fatto bene? Eccezionalmente
✅ Cutting-edge? Sì, best 2024-25
</a:t>
            </a:r>
            <a:r>
              <a:rPr lang="en-US" sz="1000" b="1" dirty="0">
                <a:solidFill>
                  <a:srgbClr val="02C39A"/>
                </a:solidFill>
              </a:rPr>
              <a:t>Quando sceglierlo:
</a:t>
            </a:r>
            <a:r>
              <a:rPr lang="en-US" sz="1000" i="1" dirty="0">
                <a:solidFill>
                  <a:srgbClr val="212121"/>
                </a:solidFill>
              </a:rPr>
              <a:t>Qualità, scalabilità, long-term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71089"/>
            <a:ext cx="7680960" cy="2173986"/>
          </a:xfrm>
          <a:prstGeom prst="rect">
            <a:avLst/>
          </a:prstGeom>
          <a:solidFill>
            <a:srgbClr val="E8F5E9"/>
          </a:solidFill>
          <a:ln w="381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22960" y="2757831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</a:rPr>
              <a:t>💡 Raccomandazioni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159709"/>
            <a:ext cx="7132320" cy="1703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</a:rPr>
              <a:t>Il tuo collega ha fatto un ottimo lavoro creando:
</a:t>
            </a:r>
            <a:r>
              <a:rPr lang="en-US" sz="1100" dirty="0">
                <a:solidFill>
                  <a:srgbClr val="212121"/>
                </a:solidFill>
              </a:rPr>
              <a:t>1. Approccio pragmatico (Lite) per velocità
2. Approccio best-practice (Strutturato) per </a:t>
            </a:r>
            <a:r>
              <a:rPr lang="en-US" sz="1100" dirty="0" err="1">
                <a:solidFill>
                  <a:srgbClr val="212121"/>
                </a:solidFill>
              </a:rPr>
              <a:t>robustezza</a:t>
            </a:r>
            <a:endParaRPr lang="en-US" sz="1100" dirty="0">
              <a:solidFill>
                <a:srgbClr val="212121"/>
              </a:solidFill>
            </a:endParaRPr>
          </a:p>
          <a:p>
            <a:r>
              <a:rPr lang="en-US" sz="1100" i="1" dirty="0">
                <a:solidFill>
                  <a:srgbClr val="212121"/>
                </a:solidFill>
              </a:rPr>
              <a:t>Ha </a:t>
            </a:r>
            <a:r>
              <a:rPr lang="en-US" sz="1100" i="1" dirty="0" err="1">
                <a:solidFill>
                  <a:srgbClr val="212121"/>
                </a:solidFill>
              </a:rPr>
              <a:t>capito</a:t>
            </a:r>
            <a:r>
              <a:rPr lang="en-US" sz="1100" i="1" dirty="0">
                <a:solidFill>
                  <a:srgbClr val="212121"/>
                </a:solidFill>
              </a:rPr>
              <a:t> </a:t>
            </a:r>
            <a:r>
              <a:rPr lang="en-US" sz="1100" i="1" dirty="0" err="1">
                <a:solidFill>
                  <a:srgbClr val="212121"/>
                </a:solidFill>
              </a:rPr>
              <a:t>profondamente</a:t>
            </a:r>
            <a:r>
              <a:rPr lang="en-US" sz="1100" i="1" dirty="0">
                <a:solidFill>
                  <a:srgbClr val="212121"/>
                </a:solidFill>
              </a:rPr>
              <a:t> il SDD e lo ha </a:t>
            </a:r>
            <a:r>
              <a:rPr lang="en-US" sz="1100" i="1" dirty="0" err="1">
                <a:solidFill>
                  <a:srgbClr val="212121"/>
                </a:solidFill>
              </a:rPr>
              <a:t>adattato</a:t>
            </a:r>
            <a:r>
              <a:rPr lang="en-US" sz="1100" i="1" dirty="0">
                <a:solidFill>
                  <a:srgbClr val="212121"/>
                </a:solidFill>
              </a:rPr>
              <a:t> </a:t>
            </a:r>
            <a:r>
              <a:rPr lang="en-US" sz="1100" i="1" dirty="0" err="1">
                <a:solidFill>
                  <a:srgbClr val="212121"/>
                </a:solidFill>
              </a:rPr>
              <a:t>intelligentemente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
</a:t>
            </a:r>
            <a:r>
              <a:rPr lang="en-US" sz="1100" b="1" dirty="0">
                <a:solidFill>
                  <a:srgbClr val="212121"/>
                </a:solidFill>
              </a:rPr>
              <a:t>Non è "o uno o l'altro" - sono complementari:
</a:t>
            </a:r>
            <a:r>
              <a:rPr lang="en-US" sz="1000" dirty="0">
                <a:solidFill>
                  <a:srgbClr val="212121"/>
                </a:solidFill>
              </a:rPr>
              <a:t>• Inizia con Lite per validare idea rapidamente
• Migra a Strutturato quando progetto </a:t>
            </a:r>
            <a:r>
              <a:rPr lang="en-US" sz="1000" dirty="0" err="1">
                <a:solidFill>
                  <a:srgbClr val="212121"/>
                </a:solidFill>
              </a:rPr>
              <a:t>dimostra</a:t>
            </a:r>
            <a:r>
              <a:rPr lang="en-US" sz="1000" dirty="0">
                <a:solidFill>
                  <a:srgbClr val="212121"/>
                </a:solidFill>
              </a:rPr>
              <a:t> </a:t>
            </a:r>
            <a:r>
              <a:rPr lang="en-US" sz="1000" dirty="0" err="1">
                <a:solidFill>
                  <a:srgbClr val="212121"/>
                </a:solidFill>
              </a:rPr>
              <a:t>valore</a:t>
            </a:r>
            <a:endParaRPr lang="en-US" sz="1000" dirty="0">
              <a:solidFill>
                <a:srgbClr val="21212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
</a:t>
            </a:r>
            <a:r>
              <a:rPr lang="en-US" sz="1000" i="1" dirty="0">
                <a:solidFill>
                  <a:srgbClr val="212121"/>
                </a:solidFill>
              </a:rPr>
              <a:t>Questo è il "portfolio di approcci" che le </a:t>
            </a:r>
            <a:r>
              <a:rPr lang="en-US" sz="1000" i="1" dirty="0" err="1">
                <a:solidFill>
                  <a:srgbClr val="212121"/>
                </a:solidFill>
              </a:rPr>
              <a:t>teorie</a:t>
            </a:r>
            <a:r>
              <a:rPr lang="en-US" sz="1000" i="1" dirty="0">
                <a:solidFill>
                  <a:srgbClr val="212121"/>
                </a:solidFill>
              </a:rPr>
              <a:t> </a:t>
            </a:r>
            <a:r>
              <a:rPr lang="en-US" sz="1000" i="1" dirty="0" err="1">
                <a:solidFill>
                  <a:srgbClr val="212121"/>
                </a:solidFill>
              </a:rPr>
              <a:t>moderne</a:t>
            </a:r>
            <a:r>
              <a:rPr lang="en-US" sz="1000" i="1" dirty="0">
                <a:solidFill>
                  <a:srgbClr val="212121"/>
                </a:solidFill>
              </a:rPr>
              <a:t> </a:t>
            </a:r>
            <a:r>
              <a:rPr lang="en-US" sz="1000" i="1" dirty="0" err="1">
                <a:solidFill>
                  <a:srgbClr val="212121"/>
                </a:solidFill>
              </a:rPr>
              <a:t>raccomandano</a:t>
            </a:r>
            <a:r>
              <a:rPr lang="en-US" sz="1000" i="1" dirty="0">
                <a:solidFill>
                  <a:srgbClr val="212121"/>
                </a:solidFill>
              </a:rPr>
              <a:t>: context-appropriate SDD, non one-size-fits-all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Grazie per l'Attenzione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C39A"/>
                </a:solidFill>
              </a:rPr>
              <a:t>Domande?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F5F5"/>
                </a:solidFill>
              </a:rPr>
              <a:t>📧 partecipante1@example.com
🏢 R&amp;D Team | Gamma SPA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1902</Words>
  <Application>Microsoft Office PowerPoint</Application>
  <PresentationFormat>Presentazione su schermo (16:9)</PresentationFormat>
  <Paragraphs>190</Paragraphs>
  <Slides>21</Slides>
  <Notes>21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4" baseType="lpstr">
      <vt:lpstr>Arial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Stefano Zaghi</dc:creator>
  <cp:lastModifiedBy>Stefano Zaghi</cp:lastModifiedBy>
  <cp:revision>2</cp:revision>
  <dcterms:created xsi:type="dcterms:W3CDTF">2026-02-17T16:25:39Z</dcterms:created>
  <dcterms:modified xsi:type="dcterms:W3CDTF">2026-02-17T16:28:53Z</dcterms:modified>
</cp:coreProperties>
</file>