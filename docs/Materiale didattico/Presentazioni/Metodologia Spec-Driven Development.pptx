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95" r:id="rId36"/>
    <p:sldId id="296" r:id="rId37"/>
    <p:sldId id="297" r:id="rId38"/>
    <p:sldId id="283" r:id="rId39"/>
    <p:sldId id="286" r:id="rId40"/>
    <p:sldId id="284" r:id="rId41"/>
    <p:sldId id="285" r:id="rId42"/>
    <p:sldId id="298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250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</a:t>
            </a:r>
            <a:endParaRPr lang="en-US" sz="4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Metodologia, Configurazione e Best Practices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prompt alla specifica, dalla specifica al codice: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processo controllato, iterativo e riproducibile.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1828800" cy="3657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40233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45720" cy="40233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698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058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54480" y="996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Cos’è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Spec-Driven Development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54480" y="12070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 fondamentali e vantaggi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1435608"/>
            <a:ext cx="7863840" cy="40233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640080" y="1435608"/>
            <a:ext cx="45720" cy="40233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49961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14356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554480" y="1426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 della Metodologia SDD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554480" y="16367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Planning Mode al Brainstorming avanzato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40080" y="1865376"/>
            <a:ext cx="7863840" cy="40233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640080" y="1865376"/>
            <a:ext cx="45720" cy="40233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9293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18653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554480" y="1856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SDD Tradizionale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554480" y="20665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Mode: prompt → piano di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esecuzione → review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640080" y="2295144"/>
            <a:ext cx="7863840" cy="40233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40080" y="2295144"/>
            <a:ext cx="45720" cy="40233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43000" y="22951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554480" y="2286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SDD Avanzato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554480" y="24963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&amp; Specification: esplorazione → specifica → piano di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subagent (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review)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640080" y="2724912"/>
            <a:ext cx="7863840" cy="40233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3"/>
          <p:cNvSpPr/>
          <p:nvPr/>
        </p:nvSpPr>
        <p:spPr>
          <a:xfrm>
            <a:off x="640080" y="2724912"/>
            <a:ext cx="45720" cy="40233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78892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43000" y="27249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554480" y="2715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tra i Workflow SDD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554480" y="29260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usare quale approccio 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640080" y="3154680"/>
            <a:ext cx="7863840" cy="40233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Shape 28"/>
          <p:cNvSpPr/>
          <p:nvPr/>
        </p:nvSpPr>
        <p:spPr>
          <a:xfrm>
            <a:off x="640080" y="3154680"/>
            <a:ext cx="45720" cy="40233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3218688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43000" y="31546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554480" y="3145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Best Practices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1554480" y="33558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 di ingegneria del contesto per l'AI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640080" y="3584448"/>
            <a:ext cx="7863840" cy="40233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Shape 33"/>
          <p:cNvSpPr/>
          <p:nvPr/>
        </p:nvSpPr>
        <p:spPr>
          <a:xfrm>
            <a:off x="640080" y="3584448"/>
            <a:ext cx="45720" cy="40233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3648456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143000" y="35844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1554480" y="35753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file CLAUDE.md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1554480" y="3785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Ruolo, struttura e workflow di generazione (Lite, Intermediate, Advanced)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640080" y="4014216"/>
            <a:ext cx="7863840" cy="40233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Shape 38"/>
          <p:cNvSpPr/>
          <p:nvPr/>
        </p:nvSpPr>
        <p:spPr>
          <a:xfrm>
            <a:off x="640080" y="4014216"/>
            <a:ext cx="45720" cy="40233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4078224"/>
            <a:ext cx="256032" cy="25603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143000" y="401421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1554480" y="4005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per lo SDD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1554480" y="421538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strutturati per ogni fase del workflow</a:t>
            </a:r>
            <a:endParaRPr lang="en-US" sz="800" dirty="0"/>
          </a:p>
        </p:txBody>
      </p:sp>
      <p:sp>
        <p:nvSpPr>
          <p:cNvPr id="52" name="Shape 42"/>
          <p:cNvSpPr/>
          <p:nvPr/>
        </p:nvSpPr>
        <p:spPr>
          <a:xfrm>
            <a:off x="640080" y="4443984"/>
            <a:ext cx="7863840" cy="40233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Shape 43"/>
          <p:cNvSpPr/>
          <p:nvPr/>
        </p:nvSpPr>
        <p:spPr>
          <a:xfrm>
            <a:off x="640080" y="4443984"/>
            <a:ext cx="45720" cy="40233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4507992"/>
            <a:ext cx="256032" cy="256032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1143000" y="44439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6" name="Text 45"/>
          <p:cNvSpPr/>
          <p:nvPr/>
        </p:nvSpPr>
        <p:spPr>
          <a:xfrm>
            <a:off x="1554480" y="4434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Lezioni Apprese e Key Takeaways</a:t>
            </a:r>
            <a:endParaRPr lang="en-US" sz="1100" dirty="0"/>
          </a:p>
        </p:txBody>
      </p:sp>
      <p:sp>
        <p:nvSpPr>
          <p:cNvPr id="57" name="Text 46"/>
          <p:cNvSpPr/>
          <p:nvPr/>
        </p:nvSpPr>
        <p:spPr>
          <a:xfrm>
            <a:off x="1554480" y="46451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operativa e linee guida pratiche</a:t>
            </a:r>
            <a:endParaRPr lang="en-US" sz="800" dirty="0"/>
          </a:p>
        </p:txBody>
      </p:sp>
      <p:sp>
        <p:nvSpPr>
          <p:cNvPr id="58" name="Text 4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Cos’è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Spec-Driven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 fondamentali, vantaggi e contesto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Cos’è</a:t>
            </a: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Spec-Driven Development?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metodologia di sviluppo in cui l'AI non scrive codice liberamente, ma implementa una specifica dettagliata, approvata dall'utente, attraverso un ciclo controllato di pianificazione, esecuzione e revisione.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514600" cy="18288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5146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14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 Prima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definisce il COSA prima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chiedere il COME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737360"/>
            <a:ext cx="2514600" cy="18288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337560" y="1737360"/>
            <a:ext cx="25146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514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Umano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L'utente approva ogni fase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procedere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737360"/>
            <a:ext cx="2514600" cy="18288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6035040" y="1737360"/>
            <a:ext cx="25146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9659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2514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Prevedibile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ripetibili, non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dipendenti dal caso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3794760"/>
            <a:ext cx="1920240" cy="685800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64008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Consistenza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31520" y="4069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input = stesso output prevedibile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651760" y="3794760"/>
            <a:ext cx="1920240" cy="685800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/>
          <p:nvPr/>
        </p:nvSpPr>
        <p:spPr>
          <a:xfrm>
            <a:off x="265176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Riproducibilità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743200" y="4069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Rifare il progetto da zero è possibile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663440" y="3794760"/>
            <a:ext cx="1920240" cy="685800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2"/>
          <p:cNvSpPr/>
          <p:nvPr/>
        </p:nvSpPr>
        <p:spPr>
          <a:xfrm>
            <a:off x="466344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Manutenibilità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754880" y="4069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aggiornata = codice aggiornato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6675120" y="3794760"/>
            <a:ext cx="1920240" cy="685800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667512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766560" y="4069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 sviluppatori leggono la spec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vs Vibe Coding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SDD trasforma l'AI da "assistente casuale" a "sviluppatore guidato da specifiche"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610709"/>
              </p:ext>
            </p:extLst>
          </p:nvPr>
        </p:nvGraphicFramePr>
        <p:xfrm>
          <a:off x="640080" y="1325880"/>
          <a:ext cx="786384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 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Approccio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"Fai qualcosa" → correggi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 → Piano di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sviluppo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Esecuzione →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L'AI decide cosa fare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L'utente approva ogni fase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Imprevedibile, variabile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Riproducibile, prevedibile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Iterazioni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Molte correzioni post-hoc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Poche / nessuna correzione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scalabile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Scalabile, documentato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Copertura AI stimata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90-95%+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"Il dettaglio in </a:t>
            </a:r>
            <a:r>
              <a:rPr lang="en-US" sz="1200" i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nella specifica fa la differenza tra 'costruisci qualcosa' e 'costruisci esattamente questo'."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 della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SDD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Planning Mode al Brainstorming &amp; Specification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 della Metodologia SDD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TRADIZIONALE (Planning Mode)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737360" cy="731520"/>
          </a:xfrm>
          <a:prstGeom prst="rect">
            <a:avLst/>
          </a:prstGeom>
          <a:solidFill>
            <a:srgbClr val="E8F1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7DE9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1737360" cy="731520"/>
          </a:xfrm>
          <a:prstGeom prst="rect">
            <a:avLst/>
          </a:prstGeom>
          <a:solidFill>
            <a:srgbClr val="E8F1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651760" y="1417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14173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7DE9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1737360" cy="731520"/>
          </a:xfrm>
          <a:prstGeom prst="rect">
            <a:avLst/>
          </a:prstGeom>
          <a:solidFill>
            <a:srgbClr val="E8F1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7DE9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1737360" cy="731520"/>
          </a:xfrm>
          <a:prstGeom prst="rect">
            <a:avLst/>
          </a:prstGeom>
          <a:solidFill>
            <a:srgbClr val="E8F1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675120" y="1417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Controllata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33172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74904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AVANZATO (Brainstorming &amp; Specification)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429000"/>
            <a:ext cx="1737360" cy="73152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64008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Q&amp;A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377440" y="34290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651760" y="3429000"/>
            <a:ext cx="1737360" cy="73152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265176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Dettagliata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389120" y="34290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663440" y="3429000"/>
            <a:ext cx="1737360" cy="73152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466344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di </a:t>
            </a:r>
            <a:r>
              <a:rPr lang="en-US" sz="1000" b="1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00800" y="34290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675120" y="3429000"/>
            <a:ext cx="1737360" cy="73152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667512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Subagent-Driven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workflow avanzato introduce una fase di esplorazione strutturata (brainstorming) prima della specifica, producendo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complete e riducendo le iterazioni correttive.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SDD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Tradizionale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Mode: dal prompt strutturato all'implementazione controllata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Workflow SDD Tradizionale: 6 Fasi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502920" cy="502920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1097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1488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0972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11880" y="10972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6118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4612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0972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10972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074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10972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960" y="10972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5379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10972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01000" y="109728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0010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3524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2377440"/>
            <a:ext cx="78638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fase richiede approvazione prima di procedere. Il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essere iterato: se la review identifica problemi, si torna alla fase appropriata.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2971800"/>
            <a:ext cx="2514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640080" y="2971800"/>
            <a:ext cx="45720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51560" y="3044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Specifica Iniziale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77240" y="3337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strutturato con obiettivo, requisiti, contesto, vincoli. Richiede esplicitamente una fase di planning.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2971800"/>
            <a:ext cx="2514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Shape 32"/>
          <p:cNvSpPr/>
          <p:nvPr/>
        </p:nvSpPr>
        <p:spPr>
          <a:xfrm>
            <a:off x="3291840" y="2971800"/>
            <a:ext cx="45720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063240"/>
            <a:ext cx="228600" cy="2286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3703320" y="3044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Q&amp;A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429000" y="3337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ambiguità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propone opzioni concrete. Colma i gap PRIMA di scrivere codice.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5943600" y="2971800"/>
            <a:ext cx="2514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Shape 36"/>
          <p:cNvSpPr/>
          <p:nvPr/>
        </p:nvSpPr>
        <p:spPr>
          <a:xfrm>
            <a:off x="5943600" y="2971800"/>
            <a:ext cx="45720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063240"/>
            <a:ext cx="228600" cy="22860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355080" y="3044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Piano di Sviluppo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080760" y="3337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DB, data layer, API, UI dettagliati. Piano salvato come artifact (development-plan.md).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640080" y="4069080"/>
            <a:ext cx="2514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40"/>
          <p:cNvSpPr/>
          <p:nvPr/>
        </p:nvSpPr>
        <p:spPr>
          <a:xfrm>
            <a:off x="640080" y="4069080"/>
            <a:ext cx="45720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60520"/>
            <a:ext cx="228600" cy="2286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105156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Specifica Raffinata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777240" y="44348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aggiornato con le decisioni del Q&amp;A. La specifica cresce in dettaglio e precisione.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3291840" y="4069080"/>
            <a:ext cx="2514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Shape 44"/>
          <p:cNvSpPr/>
          <p:nvPr/>
        </p:nvSpPr>
        <p:spPr>
          <a:xfrm>
            <a:off x="3291840" y="4069080"/>
            <a:ext cx="45720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4160520"/>
            <a:ext cx="228600" cy="22860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370332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5: Esecuzione Controllata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3429000" y="44348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su Claude Code con revisione diff-by-diff. Riferimento al piano approvato.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5943600" y="4069080"/>
            <a:ext cx="2514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Shape 48"/>
          <p:cNvSpPr/>
          <p:nvPr/>
        </p:nvSpPr>
        <p:spPr>
          <a:xfrm>
            <a:off x="5943600" y="4069080"/>
            <a:ext cx="45720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4160520"/>
            <a:ext cx="228600" cy="228600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635508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6: Review e Validazione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6080760" y="44348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post-implementazione con specifica come benchmark di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conformità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59" name="Text 5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Pratico: EV-002 Configurable Working Hours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365760" cy="3657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SDD Tradizionale (Planning Mode)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permettere la configurazione delle ore lavorative giornaliere per ogni risorsa, con un modello a 3 livelli (default, pattern settimanale, eccezioni), e gestire assenze con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granularità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30 minuti.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8288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920240"/>
            <a:ext cx="18288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060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da creare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18288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da modificare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1920240"/>
            <a:ext cx="18288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53796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3796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funzionali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944368"/>
            <a:ext cx="201168" cy="201168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40080" y="2944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0120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 iniziale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29260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 obiettivo, requisiti principali, planning mode richiesto. Buona pratica ma troppo vago su aspetti critici.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0664" y="3163824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640080" y="3255264"/>
            <a:ext cx="201168" cy="201168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40080" y="32552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" y="32369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con Claude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1760" y="323697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identifica 5+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ambiguità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Decisioni su: scope settimanale, festivita, DailyWorkingHours, approccio architetturale.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0664" y="3474720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40080" y="3566160"/>
            <a:ext cx="201168" cy="201168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40080" y="35661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" y="3547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di Sviluppo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51760" y="354787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di 340 righe: SQL completi, confronto 2 approcci architetturali, specifiche UI. Salvato come development-plan.md.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664" y="3785616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640080" y="3877056"/>
            <a:ext cx="201168" cy="201168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40080" y="3877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0120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 Raffinata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51760" y="38587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aggiornato: 3-tier esplicito, Override &gt; Weekly &gt; Default, range 0.0-24.0,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festività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full-day.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0664" y="4096512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640080" y="4187952"/>
            <a:ext cx="201168" cy="201168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40080" y="4187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60120" y="4169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51760" y="416966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Claude Code con riferimento al piano approvato. Revisione diff-by-diff.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0664" y="4407408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640080" y="4498848"/>
            <a:ext cx="201168" cy="201168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40080" y="44988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60120" y="4480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651760" y="44805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conformità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rotte, mancanti, possibili miglioramenti. Ciclo iterativo se necessario.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228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 Iniziale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2120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21208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0080" y="10332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originale includeva: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chiaro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 ore lavorative giornaliere per risorsa
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principali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DailyWorkingHours, variazioni giorno per giorno, assenze 30 min
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tecnici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SQL, niente unit test, persistenza DB
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 al contesto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development-plan.md, analisi funzionale
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phase richiesta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Approvazione obbligatoria prima del coding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834640" cy="18288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796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Buona pratica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1600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Richiedere esplicitamente una fase di planning prima dell'implementazione evita che l'AI "parta in quarta".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3017520"/>
            <a:ext cx="2834640" cy="18288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1546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3796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di miglioramento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26480" y="36118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Troppo vago su aspetti critici: modello a 3 livelli, migrazione assenze, integrazione festivita, UI.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228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e </a:t>
            </a:r>
            <a:r>
              <a:rPr lang="en-US" sz="2800" b="1" dirty="0" err="1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revisione</a:t>
            </a: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della </a:t>
            </a:r>
            <a:r>
              <a:rPr lang="en-US" sz="2800" b="1" dirty="0" err="1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0422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94360" y="1227582"/>
            <a:ext cx="45720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94360" y="122758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20015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settimanale?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54762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week Mon-Sun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06299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983480" y="1200150"/>
            <a:ext cx="45720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983480" y="120015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117271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Posizionamento UI?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152019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tab nella pagina Resource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32029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94360" y="2457450"/>
            <a:ext cx="45720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94360" y="245745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243001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DailyWorkingHours?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277749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0.0 - 24.0 (da specifica task)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306574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983480" y="2443734"/>
            <a:ext cx="45720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983480" y="244373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241630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Festività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parziali?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284998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solo giornata intera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457200" y="3639312"/>
            <a:ext cx="64008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731520" y="368503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ambiguità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nella specifica e ha proposto opzioni concrete, permettendo decisioni informate. Questo e il valore della fase Q&amp;A: colmare i gap PRIMA di scrivere codice.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228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Piano di Sviluppo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92024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078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Database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(Resource, WeeklySchedule,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ScheduleOverride, Absence), SQL completo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92024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697480" y="1078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16916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 C#, ViewModels, Repository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Dapper + stored procedure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192024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846320" y="1078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Controller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6916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+ MVC Controllers,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AutoMapper, validazione FluentValidation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0515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192024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995160" y="1078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6916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 Kendo, editor numerici,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localizzazione italiana completa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 Piano di Sviluppo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069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prodotto da Claude ha dettagliato: SQL completi per ogni tabella, confronto tra 2 approcci architetturali (con pro/contro e raccomandazione),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Repository e Controller, specifiche per ogni grid UI. Il documento di 340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stato prodotto nella stessa sessione di Q&amp;A e salvato come development-plan.md.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228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 Raffinata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</a:t>
            </a:r>
            <a:r>
              <a:rPr lang="en-US" sz="13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originale</a:t>
            </a: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stato aggiornato incorporando le decisioni prese durante il Q&amp;A.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to configure and to manage daily working hours day-by-day variations, like managing a real time-resource scheduling calendar"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menzione di: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a 3 livelli di risoluzione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Migrazione da date-range a per-day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festività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 UI e labels italiane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DailyWorkingHours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65176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18288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specifici aggiuntivi: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week Mon-Sun, Sat/Sun default 0h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3-tier: Override &gt; Weekly &gt; Default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0.0 - 24.0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Festività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full-day (AbsenceHours = NULL)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ancora mancano: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 di migrazione dati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 UI complete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per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festività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1887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 5-6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Esecuzione e Review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7899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0241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5: Esecuzione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di esecuzione includeva: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specifica raffinata completa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 al development-plan.md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Istruzione di leggere il piano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Istruzione di iniziare l'implementazione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la fase di planning è stata rimossa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prompt, perche non serviva piu.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L'implementazione avviene su Claude Code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revisione diff-by-diff.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7899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0241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6: Review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3776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di review chiedeva di: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 funzionalita rotte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 funzionalita mancanti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Valutare possibili miglioramenti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ripeteva la specifica completa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dare a Claude il contesto necessario a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valutare la conformita dell'implementazione.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si chiude: la review puo generare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 task di correzione (nuove iterazioni).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Scelte</a:t>
            </a: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strutturato in fasi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Separazione netta tra planning, Q&amp;A, piano, esecuzione e review.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0515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800600" y="105156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88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prima dell'implementazione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4924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 chiesto 5 domande + scelta architetturale, evitando assunzioni.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286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457200" y="228600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Approvazione esplicita a ogni gate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0584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non è stato eseguito senza conferma: ogni fase aveva un checkpoint.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2286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4800600" y="228600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4231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salvato come artifact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4924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development-plan.md persistente, riutilizzabile in sessioni successive.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520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457200" y="352044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come fase separata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05840" y="3977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post-implementazione con specifica come benchmark di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conformità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800600" y="3520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3"/>
          <p:cNvSpPr/>
          <p:nvPr/>
        </p:nvSpPr>
        <p:spPr>
          <a:xfrm>
            <a:off x="4800600" y="3520440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6576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492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Iterazione sul design durante Q&amp;A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349240" y="3977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DB rivisto con feedback (rimozione campi inutili, semplificazione Absence).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 iniziale troppo vaga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Concetti chiave come il modello a 3 livelli e la migrazione dati assenti. Claude avrebbe raggiunto solo il 60-70% del risultato.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0515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800600" y="105156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88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Troppa delega al contesto esterno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4924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development-plan.md" scarica la comprensione su Claude. I requisiti essenziali devono essere nel prompt.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286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457200" y="228600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specifica UI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0584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labels italiane, comportamento editor, messaggi di errore: tutti mancanti nel prompt originale.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2286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4800600" y="228600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4231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di livelli di astrazione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4924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 architetturali e vincoli di processo ("niente unit test") nella stessa lista: confusione.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520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457200" y="352044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implicite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05840" y="3977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festività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cascade DailyWorkingHours, assenze duplicate permesse: nessuna menzionata.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800600" y="3520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3"/>
          <p:cNvSpPr/>
          <p:nvPr/>
        </p:nvSpPr>
        <p:spPr>
          <a:xfrm>
            <a:off x="4800600" y="352044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6576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492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dati esplicito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349240" y="3977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senza codice, specificare le entita e i loro campi avrebbe eliminato ambiguita.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L'Impatto della Specifica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272971"/>
              </p:ext>
            </p:extLst>
          </p:nvPr>
        </p:nvGraphicFramePr>
        <p:xfrm>
          <a:off x="640080" y="960120"/>
          <a:ext cx="7863840" cy="1950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Aspetto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Originale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 Ottimizzata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Lunghezza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 righe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 righe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Requisiti funzionali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generici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dettagliati (FR-1 ... FR-7)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dati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</a:t>
                      </a:r>
                      <a:r>
                        <a:rPr lang="en-US" sz="1000" dirty="0" err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entità</a:t>
                      </a: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 campi e vincoli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Specifiche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Labels, editor, layout, messaggi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Esplicite (</a:t>
                      </a:r>
                      <a:r>
                        <a:rPr lang="en-US" sz="1000" dirty="0" err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festività</a:t>
                      </a: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cascade, 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Stima copertura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Iterazioni correttive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Poche / nessuna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39776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qualita del </a:t>
            </a:r>
            <a:r>
              <a:rPr lang="en-US" sz="12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proporzionale alla qualita della specifica.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 di planning ne risparmia tre di correzioni.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SDD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Avanzato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&amp; Specification: esplorazione guidata prima dell'implementazione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SDD Avanzato: Brainstorming &amp; Specification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DI BRAINSTORMING (su Claude Desktop o Claude Code)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828800" cy="128016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371600" y="14173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Descrizione problema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obiettivo iniziale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68880" y="1325880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1760" y="1325880"/>
            <a:ext cx="1828800" cy="128016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832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Esplorativo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Esplorazione codebase,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opzioni architetturali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80560" y="1325880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1828800" cy="128016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394960" y="14173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39496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completo: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FR, edge cases, schema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92240" y="1325880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75120" y="1325880"/>
            <a:ext cx="1828800" cy="128016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7406640" y="14173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406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Writing-plans: file,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metodi, dipendenze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DI ESECUZIONE (su Claude Code)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200400"/>
            <a:ext cx="3749040" cy="9144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822960" y="33375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82296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8016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Subagent-driven development: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parallela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200400"/>
            <a:ext cx="3749040" cy="9144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846320" y="33375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84632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conformità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 come benchmark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2296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 chiave: la fase di brainstorming esplora il problema PRIMA della specifica. Il Q&amp;A è piu profondo, l'architettura viene definita in modo collaborativo, e il piano di </a:t>
            </a:r>
            <a:r>
              <a:rPr lang="en-US" sz="9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maggiormente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dettagliato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Pratico: EV-003 Modified Gantt Date Calculation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36576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SDD Avanzato (Brainstorming &amp; Specification)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16002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Gantt assume che tutte le risorse lavorino 8h/giorno. Un task di 16h viene mostrato come 2 giorni per tutti. Ma una risorsa part-time da 4h/giorno ha bisogno di 4 giorni, non 2. Questo causa timeline non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realistiche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 chiave emerse dal Brainstorming: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2432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06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</a:t>
            </a: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calcolo: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063240" y="2606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Mantenere giorni (1 giorno = 8h, conversione interna)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862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Ricalcolo: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063240" y="28620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manuale (nessun auto-trigger su CRUD)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36392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118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Architettura: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063240" y="31181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Nuova classe ResourceCapacityUtilities condivisa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9242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3374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path di calcolo: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3063240" y="3374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condiviso per TaskManagement e WorkAssignment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48456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51560" y="3630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3063240" y="3630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resolution, pre-fetch dati, walk day-by-day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04488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51560" y="3886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obsoleto: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3063240" y="3886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Eliminazione DateTimeUtilities + 15 metodi inutilizzati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640080" y="4251960"/>
            <a:ext cx="1463040" cy="5943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1"/>
          <p:cNvSpPr/>
          <p:nvPr/>
        </p:nvSpPr>
        <p:spPr>
          <a:xfrm>
            <a:off x="64008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2"/>
          <p:cNvSpPr/>
          <p:nvPr/>
        </p:nvSpPr>
        <p:spPr>
          <a:xfrm>
            <a:off x="640080" y="4572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file</a:t>
            </a:r>
            <a:endParaRPr lang="en-US" sz="800" dirty="0"/>
          </a:p>
        </p:txBody>
      </p:sp>
      <p:sp>
        <p:nvSpPr>
          <p:cNvPr id="32" name="Shape 23"/>
          <p:cNvSpPr/>
          <p:nvPr/>
        </p:nvSpPr>
        <p:spPr>
          <a:xfrm>
            <a:off x="2212848" y="4251960"/>
            <a:ext cx="1463040" cy="5943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24"/>
          <p:cNvSpPr/>
          <p:nvPr/>
        </p:nvSpPr>
        <p:spPr>
          <a:xfrm>
            <a:off x="2212848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25"/>
          <p:cNvSpPr/>
          <p:nvPr/>
        </p:nvSpPr>
        <p:spPr>
          <a:xfrm>
            <a:off x="2212848" y="4572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modificati</a:t>
            </a:r>
            <a:endParaRPr lang="en-US" sz="800" dirty="0"/>
          </a:p>
        </p:txBody>
      </p:sp>
      <p:sp>
        <p:nvSpPr>
          <p:cNvPr id="35" name="Shape 26"/>
          <p:cNvSpPr/>
          <p:nvPr/>
        </p:nvSpPr>
        <p:spPr>
          <a:xfrm>
            <a:off x="3785616" y="4251960"/>
            <a:ext cx="1463040" cy="5943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27"/>
          <p:cNvSpPr/>
          <p:nvPr/>
        </p:nvSpPr>
        <p:spPr>
          <a:xfrm>
            <a:off x="3785616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28"/>
          <p:cNvSpPr/>
          <p:nvPr/>
        </p:nvSpPr>
        <p:spPr>
          <a:xfrm>
            <a:off x="3785616" y="4572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eliminato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5358384" y="4251960"/>
            <a:ext cx="1463040" cy="5943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0"/>
          <p:cNvSpPr/>
          <p:nvPr/>
        </p:nvSpPr>
        <p:spPr>
          <a:xfrm>
            <a:off x="5358384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40" name="Text 31"/>
          <p:cNvSpPr/>
          <p:nvPr/>
        </p:nvSpPr>
        <p:spPr>
          <a:xfrm>
            <a:off x="5358384" y="4572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 rimossi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6931152" y="4251960"/>
            <a:ext cx="1463040" cy="5943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33"/>
          <p:cNvSpPr/>
          <p:nvPr/>
        </p:nvSpPr>
        <p:spPr>
          <a:xfrm>
            <a:off x="6931152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43" name="Text 34"/>
          <p:cNvSpPr/>
          <p:nvPr/>
        </p:nvSpPr>
        <p:spPr>
          <a:xfrm>
            <a:off x="6931152" y="4572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Modifiche SQL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Lezioni dal Prompt Review (EV-003)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con un brainstorming approfondito, la </a:t>
            </a: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avere gap critici: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MVC-WebApi non specificato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80160" y="15270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specifica mostra dipendenza diretta, ma MVC non puo referenziare WebApi. Serviva un Controller HTTP + batch model.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892808"/>
            <a:ext cx="786384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640080" y="1892808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299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193852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non previsto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280160" y="218541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specifica implica chiamate HTTP per-activity. L'implementazione ha dovuto aggregare per risorsa.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40080" y="2551176"/>
            <a:ext cx="786384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640080" y="2551176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883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5968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 insufficiente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280160" y="28437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giorni inadeguati per scenari estremi (2h/giorno, 3 giorni/settimana). Implementazione usa 730.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40080" y="3209544"/>
            <a:ext cx="786384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640080" y="3209544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4670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25526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EndDate esclusivo non documentato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280160" y="35021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Convenzione critica: la data di fine è "ultimo giorno lavorativo + 1" per Kendo Gantt. Mai menzionato.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40080" y="3867912"/>
            <a:ext cx="786384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640080" y="3867912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0507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391363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Festività</a:t>
            </a: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unassigned mancanti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280160" y="41605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specifica dice "8h/giorno Mon-Fri" ma non menziona lo skip delle </a:t>
            </a:r>
            <a:r>
              <a:rPr lang="en-US" sz="9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festività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7200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9728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frasi che avrebbero cambiato l'esito: confini architetturali, convenzione EndDate, </a:t>
            </a:r>
            <a:r>
              <a:rPr lang="en-US" sz="10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festività</a:t>
            </a: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unassigned.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tra i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SDD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Mode vs Brainstorming &amp; Specification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Confronto: Planning Mode vs Brainstorming &amp; Specification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589943"/>
              </p:ext>
            </p:extLst>
          </p:nvPr>
        </p:nvGraphicFramePr>
        <p:xfrm>
          <a:off x="457200" y="914400"/>
          <a:ext cx="8229600" cy="2209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Aspetto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Mode (Tradizionale)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Brainstorming &amp; Specification (Avanzato)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iniziale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strutturato diretto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Brainstorming esplorativo con Q&amp;A approfondito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Evolve dal prompt dopo Q&amp;A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formale completo con FR, edge cases, schema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di sviluppo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 in planning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Writing-plans: file-by-file, metodo-by-metodo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Esecuzione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Diff-by-diff controllata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Subagent-driven development (parallela)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Complessità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ben definito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che richiede esplorazione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Strumenti upstream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Desktop per analisi iniziale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Desktop/Code per brainstorming + analisi codebase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Profondità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analisi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con 5+ domande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Esplorazione codebase, scoperta path multipli, decisioni architetturali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Ideale 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note, campi noti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Algoritmi, integrazioni, refactoring cross-layer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Usare Quale Workflow?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3200400"/>
          </a:xfrm>
          <a:prstGeom prst="rect">
            <a:avLst/>
          </a:prstGeom>
          <a:solidFill>
            <a:srgbClr val="E8F1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45720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ben definito e chiaro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L'architettura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gia nota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standard (CRUD, UI, reports)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chiari fin dall'inizio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limitato (pochi file coinvolti)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Urgenza: serve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delivery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749040" cy="320040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74904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&amp; SPECIFICATION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richiede esplorazione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da scoprire/decidere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complessi, refactoring cross-layer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Integrazioni tra layer/servizi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ampio (molti file, dipendenze)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del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workflow sono complementari, non mutuamente esclusivi. Si puo iniziare con Planning Mode e passare a Brainstorming se </a:t>
            </a:r>
            <a:r>
              <a:rPr lang="en-US" sz="10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emergono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complessità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impreviste.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Strumento per Quale Fase?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33832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45720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 upstream (pensare, pianificare)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preliminare del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preliminare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codebase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e Q&amp;A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esplorativo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Scrittura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iniziale</a:t>
            </a: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Claude.md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development-plan.md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Raffinamento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749040" cy="33832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7490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051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 downstream (costruire, verificare)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3776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file Claude.md e del development-plan.md come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con analisi codebase diretta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piano di sviluppo dettagliato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controllata diff-by-diff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Subagent-driven development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dell'implementazione</a:t>
            </a: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miglioramento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Claude.md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correzione iterativa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Best Practices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 di ingegneria del contesto per l'AI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51040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45720" cy="510402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23625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045101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Modularità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documentazione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25880" y="124141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separati per ogni concern (architettura, dominio, testing). Ciascun file rimane sotto i 5000 token.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539799"/>
            <a:ext cx="7863840" cy="510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640080" y="1539799"/>
            <a:ext cx="45720" cy="510402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65758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1579061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esplicito tra file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325880" y="1775369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tra documenti: "Per dettagli su architettura, consulta .claude/architettura.md". Bidirezionale.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40080" y="2073759"/>
            <a:ext cx="7863840" cy="51040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640080" y="2073759"/>
            <a:ext cx="45720" cy="510402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19154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1130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 "quando leggere"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325880" y="2309329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"Leggi sync.md se lavori su sincronizzazione" — conferisce autonomia all'LLM.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40080" y="2607718"/>
            <a:ext cx="7863840" cy="510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640080" y="2607718"/>
            <a:ext cx="45720" cy="510402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725503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26469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bilanciato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325880" y="2843289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file principale resta snello (300-500 token). I dettagli vivono nei file referenziati.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40080" y="3141678"/>
            <a:ext cx="7863840" cy="51040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640080" y="3141678"/>
            <a:ext cx="45720" cy="510402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259463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1809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rules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325880" y="3377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limits, quality gates, self-check automatici. Claude diventa proattivo.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40080" y="3675637"/>
            <a:ext cx="7863840" cy="510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3"/>
          <p:cNvSpPr/>
          <p:nvPr/>
        </p:nvSpPr>
        <p:spPr>
          <a:xfrm>
            <a:off x="640080" y="3675637"/>
            <a:ext cx="45720" cy="510402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793423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25880" y="371489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bidirezionale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325880" y="3911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"Aggiorna mappa-progetto.md ogni volta che crei/sposti/elimini un file."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40080" y="4873752"/>
            <a:ext cx="7863840" cy="392617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27"/>
          <p:cNvSpPr/>
          <p:nvPr/>
        </p:nvSpPr>
        <p:spPr>
          <a:xfrm>
            <a:off x="822960" y="4873752"/>
            <a:ext cx="7498080" cy="392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 Core descrivono il "cosa". File Speciali governano il "come" Claude lavora sul progetto.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Essenziali dello SDD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 Core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533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25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1527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Scopo, contesto, obiettivi del progetto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60120" y="2002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struttura, layer, pattern architetturali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304288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276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Guidelines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960120" y="24780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Convenzioni, naming, code style, patterns</a:t>
            </a:r>
            <a:endParaRPr lang="en-US" sz="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77977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2752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60120" y="2953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testare, come, copertura target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475488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Speciali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353312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74920" y="1325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074920" y="1527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principi core + navigazione config</a:t>
            </a:r>
            <a:endParaRPr lang="en-US" sz="8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82880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74920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Rules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5074920" y="2002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limits, quality gates, self-check automatici</a:t>
            </a:r>
            <a:endParaRPr lang="en-US" sz="8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304288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74920" y="2276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5074920" y="24780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plan, project map, sprint tracking</a:t>
            </a:r>
            <a:endParaRPr lang="en-US" sz="8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2779776"/>
            <a:ext cx="228600" cy="2286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74920" y="2752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</a:t>
            </a:r>
            <a:endParaRPr lang="en-US" sz="1100" dirty="0"/>
          </a:p>
        </p:txBody>
      </p:sp>
      <p:sp>
        <p:nvSpPr>
          <p:cNvPr id="29" name="Text 19"/>
          <p:cNvSpPr/>
          <p:nvPr/>
        </p:nvSpPr>
        <p:spPr>
          <a:xfrm>
            <a:off x="5074920" y="2953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Terminologia, business rules, glossario dominio</a:t>
            </a:r>
            <a:endParaRPr lang="en-US" sz="800" dirty="0"/>
          </a:p>
        </p:txBody>
      </p:sp>
      <p:sp>
        <p:nvSpPr>
          <p:cNvPr id="30" name="Shape 20"/>
          <p:cNvSpPr/>
          <p:nvPr/>
        </p:nvSpPr>
        <p:spPr>
          <a:xfrm>
            <a:off x="640080" y="3337560"/>
            <a:ext cx="78638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1"/>
          <p:cNvSpPr/>
          <p:nvPr/>
        </p:nvSpPr>
        <p:spPr>
          <a:xfrm>
            <a:off x="64008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dallo SDD: Scelte Corrette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822960" y="379476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strutturato in fasi con gate di approvazione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prima dell'implementazione per </a:t>
            </a: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eliminare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ambiguità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salvato come artifact persistente (development-plan.md)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come fase separata con specifica come benchmark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File CLAUDE.md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point, principi core e workflow di generazione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(Lite, Intermediate, Advanced)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Cos’è</a:t>
            </a: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file CLAUDE.md?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è il "sistema operativo" del progetto per Claude Code. </a:t>
            </a: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Rappresenta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primo file che Claude legge </a:t>
            </a: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avviato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aperto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un </a:t>
            </a: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(folder), e ne caratterizza il contesto di partenza.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749040" cy="10058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Scopo e contesto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965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facciamo,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 chi.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Definisce il problema da risolvere.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3749040" cy="10058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663440" y="1554480"/>
            <a:ext cx="54864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83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 non negoziabili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49240" y="1965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Offline-first, zero data loss, validazione doppia.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assolute del progetto.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2697480"/>
            <a:ext cx="3749040" cy="10058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640080" y="2697480"/>
            <a:ext cx="54864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926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documentazione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25880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file + guida "quando leggere cosa"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l'autonomia dell'LLM.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2697480"/>
            <a:ext cx="3749040" cy="10058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4663440" y="2697480"/>
            <a:ext cx="54864" cy="10058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9260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 proattive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49240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LOC, refactoring automatico,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obbligatori.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del CLAUDE.md (Advanced Workflow)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3931920" cy="37490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          (entry point)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architettura.md   (stack, layer, pattern)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dominio.md        (business rules, glossario)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qualita.md        (enforcement, checklist)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sync.md           (offline-first, conflitti)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testing.md        (strategia, copertura)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sicurezza.md      (auth, RLS, OWASP)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piano-sviluppo.md (sprint plan)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mappa-progetto.md (file map)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best-practices.md (standards universali)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(300-500 token)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contiene i principi core e la navigazione verso i file modulari. Ogni concern vive nel suo file dedicato.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Modulari (.claude/)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file copre un concern specifico. Claude carica solo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 serve, quando serve. Token budget ottimizzato.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di Supporto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063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di sviluppo, mappa progetto, best practices. Consultati on-demand. Non caricati all'avvio.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Bidirezionale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977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file dichiara le sue dipendenze e le condizioni per essere aggiornato. Claude non chiede permesso per leggere i file referenziati.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di Claude: Leggere e Aggiornare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688943"/>
              </p:ext>
            </p:extLst>
          </p:nvPr>
        </p:nvGraphicFramePr>
        <p:xfrm>
          <a:off x="640080" y="914400"/>
          <a:ext cx="7863840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Leggilo quando...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Aggiornalo quando...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architettura.md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Crei nuovi file, componenti, hook,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struttura directory o 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Implementi business logic, permessi, </a:t>
                      </a:r>
                      <a:r>
                        <a:rPr lang="en-US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Emergono nuove regole di 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Inizi qualsiasi task di sviluppo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Nuovi standard qualitativi necessari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Lavori su changeLog, IndexedDB, Realtime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strategia di sync o conflict res.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Scrivi o modifichi test, fai refactoring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Nuovi scenari di test identificati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sicurezza.md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Gestisci auth, RLS, input utente,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Nuove policy sicurezza necessarie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piano-sviluppo.md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Pianifichi il prossimo sprint o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Completamento task (segna stato)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37490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non chiede il permesso per leggere i file referenziati: lo fa autonomamente.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(e dopo approvazione esegue) aggiornamenti quando rileva drift </a:t>
            </a:r>
            <a:r>
              <a:rPr lang="en-US" sz="11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</a:t>
            </a: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codice.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Workflow per la Generazione del CLAUDE.md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3749040"/>
          </a:xfrm>
          <a:prstGeom prst="rect">
            <a:avLst/>
          </a:prstGeom>
          <a:solidFill>
            <a:srgbClr val="E8F1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51760" cy="41148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ore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728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2588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file core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947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25880" y="1947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25880" y="2167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PoC, &lt;1000 LOC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" y="2478024"/>
            <a:ext cx="23774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94360" y="25694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→ Tech Stack → Genera CLAUDE.md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3118104"/>
            <a:ext cx="23774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94360" y="320954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diretta: un prompt produce la configurazione. Veloce e pratico per progetti piccoli.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0" y="960120"/>
            <a:ext cx="2651760" cy="3749040"/>
          </a:xfrm>
          <a:prstGeom prst="rect">
            <a:avLst/>
          </a:prstGeom>
          <a:solidFill>
            <a:srgbClr val="E6FA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291840" y="960120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9184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1508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6052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 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9000" y="1728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6052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file + 3 fasi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29000" y="1947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60520" y="1947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fasi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29000" y="21671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60520" y="2167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Progetti medi, team 2-3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29000" y="2478024"/>
            <a:ext cx="23774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3429000" y="25694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2900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→ Knowledge → Genera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29000" y="3118104"/>
            <a:ext cx="23774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3429000" y="320954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analisi (Framework, Requirements) prima della generazione. Prompt </a:t>
            </a:r>
            <a:r>
              <a:rPr lang="en-US" sz="8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guidato.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960120"/>
            <a:ext cx="2651760" cy="374904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63640" y="1508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9516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giorni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63640" y="1728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9516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file + 4 BP docs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63640" y="1947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95160" y="1947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meta-prompting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63640" y="21671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95160" y="2167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team, long-term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63640" y="2478024"/>
            <a:ext cx="23774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263640" y="25694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6364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→ Knowledge + BP → Meta-prompt → Genera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3118104"/>
            <a:ext cx="23774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6263640" y="320954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Meta-prompting: genera prima il prompt ottimale, poi lo usa. Best Practices come input documentale.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37160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Lite: Quick Start MVP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73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3840480" cy="274320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ShoppingListLite/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.claude/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CLAUDE.md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architecture.md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0574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data-model.md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2402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features-mvp.md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conventions.md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6060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sync-strategy.md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prompts/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971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1_AskForFeatures.txt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1546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2_AskForTechStacks.txt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3375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3_GenerateConfig.txt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Caratteristiche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663440" y="13258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892040" y="1371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96596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663440" y="196596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89204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config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file core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4663440" y="26060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892040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fase (generazione diretta)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24612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4663440" y="32461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892040" y="3291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PoC, &lt;1000 LOC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3840480"/>
            <a:ext cx="8229600" cy="64008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73152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Flusso:  Chiedi features  --&gt;  Chiedi tech stack  --&gt;  Genera configurazione CLAUDE.md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10312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34640" y="128000"/>
            <a:ext cx="5943600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Intermediate: Progetto Claude + </a:t>
            </a:r>
            <a:r>
              <a:rPr lang="en-US" sz="1800" b="1" dirty="0" err="1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</a:t>
            </a: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r>
              <a:rPr lang="en-US" sz="1800" b="1" dirty="0" err="1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Generazione</a:t>
            </a: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Claude.md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2697480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Configuration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ProjectContext.md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ProjectDescription.txt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ProjectInstructions.md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problema e obiettivi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91440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6974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520440" y="960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Knowledge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FrameworkAnalysis.md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SoftwareRequirements.md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tecnologie e requisiti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91440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309360" y="914400"/>
            <a:ext cx="269748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00800" y="960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ClaudeCode Config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1508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+ .claude/ (6 file)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Development Plan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configurazione completa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103120"/>
            <a:ext cx="18288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6126480" y="2103120"/>
            <a:ext cx="18288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8229600" cy="91440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2B4570">
              <a:alpha val="85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12464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25880" y="36118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 chiave rispetto al workflow Lite: introduce la fase di analisi (FrameworkAnalysis, SoftwareRequirements)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della generazione. Il prompt di generazione del CLAUDE.md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dettagliato e guidato.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828800" cy="2926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560320" y="36576"/>
            <a:ext cx="64008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Advanced: </a:t>
            </a:r>
            <a:r>
              <a:rPr lang="en-US" sz="1700" b="1" dirty="0" err="1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Generazione</a:t>
            </a: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Claude.md </a:t>
            </a:r>
            <a:r>
              <a:rPr lang="en-US" sz="1700" b="1" dirty="0" err="1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tramite</a:t>
            </a: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Meta-Prompting e Best Practices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73152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4864" cy="10972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772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987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Configuration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2618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 sequenziali: Features, Write prompt, Generate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15361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Meta-prompting: si genera prima il prompt ottimale,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lo si usa per generare i documenti.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772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2221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Knowledge + Docs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24963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come input documentale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27706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documenti di best practices guidano la generazione: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Enforcement, Modularization, Referencing.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772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3456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ClaudeCode Config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7307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.claude/ + docs/ (10+ file)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40050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configurazione completa con enforcement rules,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di sviluppo, mappa progetto, checklist QA.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Meta-Prompting nell'Advanced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3749040" cy="1463040"/>
          </a:xfrm>
          <a:prstGeom prst="rect">
            <a:avLst/>
          </a:prstGeom>
          <a:solidFill>
            <a:srgbClr val="E8F1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 Diretto (Lite)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 il CLAUDE.md per questo progetto"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singolo prompt produce la configurazione finale.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749040" cy="146304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75488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Meta-Prompting (Advanced)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"Scrivi il miglior prompt per generare"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Usa quel prompt per generare il CLAUDE.md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passi: l'AI ottimizza prima le proprie istruzioni.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come Input Documentale (Advanced Workflow)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7863840" cy="37996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4864" cy="379962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68680" y="3131757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Best Practices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298941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CLAUDE.md, token budget, principi 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519319"/>
            <a:ext cx="7863840" cy="37996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40080" y="3519319"/>
            <a:ext cx="54864" cy="37996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68680" y="35421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Rules BP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7093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limits, quality gates, auto-refactoring triggers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929678"/>
            <a:ext cx="7863840" cy="37996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640080" y="3929678"/>
            <a:ext cx="54864" cy="37996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68680" y="39524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Modularization Best Practices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119659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suddividere in file modulari per concern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340037"/>
            <a:ext cx="7863840" cy="37996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640080" y="4340037"/>
            <a:ext cx="54864" cy="37996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68680" y="4362835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Best Practices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5200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tra file, ancore, bidirezionalita dei riferimenti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Rules: Claude Proattivo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4864" cy="54864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155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max 200 LOC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80160" y="128016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150+ LOC, proponi refactoring automaticamente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627632"/>
            <a:ext cx="786384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Funzione: max 20 LOC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80160" y="190195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Estrai sotto-funzioni automaticamente se superato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249424"/>
            <a:ext cx="786384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640080" y="2249424"/>
            <a:ext cx="54864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3591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2951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strict, zero 'any'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280160" y="252374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Segnala violazioni prima del commit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2871216"/>
            <a:ext cx="786384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640080" y="2871216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9809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29169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coverage: target &gt;80%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280160" y="314553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Suggerisci test mancanti per ogni service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493008"/>
            <a:ext cx="786384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640080" y="3493008"/>
            <a:ext cx="5486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60273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3538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DB locale = source of truth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280160" y="376732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che ogni operazione funzioni offline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3"/>
          <p:cNvSpPr/>
          <p:nvPr/>
        </p:nvSpPr>
        <p:spPr>
          <a:xfrm>
            <a:off x="822960" y="4224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di comportamento proattivo: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22960" y="440740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Claude: "Ho notato che questo file sta raggiungendo 150 LOC. Suggerisco di estrarre [</a:t>
            </a:r>
            <a:r>
              <a:rPr lang="en-US" sz="900" i="1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funzionalità</a:t>
            </a: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in un modulo separato. Vuoi che proceda con il refactoring?"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Strutturale Side-by-Side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 file + 3 fasi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file + 4 BP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giorni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Fasi workflow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(generazione)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(config/knowledge/code)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+ meta-prompting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 tech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+ BP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Semi-automatico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Automatico (LOC, test)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Meta-prompting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(prompt genera prompt)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Opzionale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(sprint plan completo)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(mappa ogni file)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PoC, MVP, &lt;1000 LOC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Progetti medi, team 2-3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Production, team, long-term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 Pratici di Scelta del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2103120"/>
          </a:xfrm>
          <a:prstGeom prst="rect">
            <a:avLst/>
          </a:prstGeom>
          <a:solidFill>
            <a:srgbClr val="E8F1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51760" cy="36576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LITE se: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o MVP da validare (&lt;1000 LOC)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developer, no team distribuito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 Claude Code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tempo limitato, speed first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51760" cy="2103120"/>
          </a:xfrm>
          <a:prstGeom prst="rect">
            <a:avLst/>
          </a:prstGeom>
          <a:solidFill>
            <a:srgbClr val="E6FA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65176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9184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INTERMEDIATE se: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4173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Progetti medi (1000-3000 LOC)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2-3 persone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analisi tecnologica preventiva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Bilancio qualita/velocita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2103120"/>
          </a:xfrm>
          <a:prstGeom prst="rect">
            <a:avLst/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6517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12648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ADVANCED se: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production (&gt;3000 LOC)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3+ o distribuito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complessi, long-term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automatico critico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229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di Migrazione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Puoi iniziare con Lite e migrare verso Intermediate o Advanced quando il progetto cresce.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Segnali di migrazione: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&gt;200 LOC, drift spec-codice, onboarding difficile, team &gt;2 persone.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una scelta irreversibile — i workflow sono complementari.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Decisionale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4663440"/>
            <a:ext cx="1668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14700" y="4663440"/>
            <a:ext cx="1668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83480" y="4663440"/>
            <a:ext cx="1668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52260" y="4663440"/>
            <a:ext cx="1668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486460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Progetto / Complessita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621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688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3177540"/>
            <a:ext cx="3003804" cy="144018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783080" y="3401568"/>
            <a:ext cx="267004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14446" y="1897380"/>
            <a:ext cx="2536546" cy="144018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114446" y="1993392"/>
            <a:ext cx="253654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83480" y="1417320"/>
            <a:ext cx="3337560" cy="1760220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116982" y="1463040"/>
            <a:ext cx="3070555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81958" y="3209544"/>
            <a:ext cx="1869034" cy="274320"/>
          </a:xfrm>
          <a:prstGeom prst="rect">
            <a:avLst/>
          </a:prstGeom>
          <a:solidFill>
            <a:srgbClr val="F59E0B">
              <a:alpha val="4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781958" y="320954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di transizione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0" y="2484120"/>
            <a:ext cx="6675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1645920" y="3550920"/>
            <a:ext cx="6675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3314700" y="1417320"/>
            <a:ext cx="0" cy="32004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983480" y="1417320"/>
            <a:ext cx="0" cy="32004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6652260" y="1417320"/>
            <a:ext cx="0" cy="32004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1645920" y="1417320"/>
            <a:ext cx="6675120" cy="3200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8366760" y="46177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1645920" y="137160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1828800" y="4937760"/>
            <a:ext cx="228600" cy="228600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148840" y="4937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4937760"/>
            <a:ext cx="228600" cy="228600"/>
          </a:xfrm>
          <a:prstGeom prst="rect">
            <a:avLst/>
          </a:prstGeom>
          <a:solidFill>
            <a:srgbClr val="0EA5E9">
              <a:alpha val="6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069080" y="4937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4937760"/>
            <a:ext cx="228600" cy="22860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989320" y="4937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4937760"/>
            <a:ext cx="228600" cy="228600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7909560" y="4937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Transizione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lo SDD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strutturati per ogni fase del workflow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Template: Claude Desktop (Generico)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5029200" cy="347472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Task: [ID / NOME TASK]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Contesto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[Background, Ruolo, Situazione, Obiettivo]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Requisiti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[requisito specifico e misurabile]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[requisito specifico e misurabile]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[requisito specifico e misurabile]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Formato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[Struttura, Lunghezza, Stile]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Vincoli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[eventuali vincoli aggiuntivi]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Esempi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[1-3 esempi del risultato desiderato]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45720" cy="45720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126480" y="11155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13167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Identificativo chiaro del task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0" y="1609344"/>
            <a:ext cx="274320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943600" y="1609344"/>
            <a:ext cx="45720" cy="45720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126480" y="16276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1828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 Claude non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inferire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2121408"/>
            <a:ext cx="274320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943600" y="2121408"/>
            <a:ext cx="45720" cy="45720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126480" y="21396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3408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Specifici, misurabili, numerati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0" y="2633472"/>
            <a:ext cx="274320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5943600" y="2633472"/>
            <a:ext cx="45720" cy="45720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126480" y="2651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8529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dell'output desiderato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0" y="3145536"/>
            <a:ext cx="274320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5943600" y="3145536"/>
            <a:ext cx="45720" cy="45720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126480" y="31638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33649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e regole addizionali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43600" y="3657600"/>
            <a:ext cx="274320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5943600" y="3657600"/>
            <a:ext cx="45720" cy="457200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126480" y="36758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38770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output di riferimento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template strutturati garantiscono output coerenti e riducono le iterazioni necessarie.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Template: Claude Code - Planning Mode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5029200" cy="3200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Task: [ID / NOME TASK]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Obiettivo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[1-2 frasi: obiettivo e motivazioni]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Requisiti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[requisito specifico e misurabile]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[requisito specifico e misurabile]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Contesto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 che Claude non deduce dalla codebase]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Vincoli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[vincoli non gia in CLAUDE.md]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Planning mode richiesto 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leggi piano di sviluppo [development_plan.md]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genera piano di sviluppo dettagliato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richiedi approvazione del piano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743200" cy="1097280"/>
          </a:xfrm>
          <a:prstGeom prst="rect">
            <a:avLst/>
          </a:prstGeom>
          <a:solidFill>
            <a:srgbClr val="E8F1FD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05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Chiave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325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sezione "Planning mode richiesto" obbliga Claude a leggere il piano, generare un piano dettagliato e chiedere approvazione PRIMA di scrivere codice.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2286000"/>
            <a:ext cx="2743200" cy="9144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774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080760" y="2651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"Planning mode richiesto", Claude potrebbe iniziare a scrivere codice </a:t>
            </a:r>
            <a:r>
              <a:rPr lang="en-US" sz="9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immediatamente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</a:t>
            </a:r>
            <a:r>
              <a:rPr lang="en-US" sz="9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pianificazione.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Template: Claude Code - Brainstorming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5029200" cy="2286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Task: [ID / NOME TASK]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Obiettivo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[1-2 frasi: obiettivo e motivazioni]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Requisiti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[requisito specifico e misurabile]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[requisito specifico e misurabile]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Contesto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 specifiche non deducibili dalla codebase]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Vincoli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[requisiti non gia in CLAUDE.md]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743200" cy="1097280"/>
          </a:xfrm>
          <a:prstGeom prst="rect">
            <a:avLst/>
          </a:prstGeom>
          <a:solidFill>
            <a:srgbClr val="F3E8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05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/brainstorming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325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 dall'esecuzione per far emergere incognite e decisioni architetturali PRIMA di </a:t>
            </a:r>
            <a:r>
              <a:rPr lang="en-US" sz="9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iniziare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9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Template: Claude Code - Advanced SDD (Esecuzione)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82296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 mode richiesto: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leggi il piano di sviluppo [DEVELOPMENT_PLAN.md]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leggi la specifica e il piano di implementazione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genera un piano di sviluppo dettagliato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richiedi approvazione del piano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utilizza la skill superpowers:subagent-driven-development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Lezioni Apprese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Key Takeaways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operativa e linee guida pratiche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Lezioni Apprese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4506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31520" y="1042055"/>
            <a:ext cx="320040" cy="320040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1042055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97650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Investire tempo nella specifica ripaga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189539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 di planning ne risparmia tre di correzioni. La copertura AI sale dal 60% al 95%.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427153"/>
            <a:ext cx="7863840" cy="4506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31520" y="1509089"/>
            <a:ext cx="320040" cy="320040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31520" y="1509089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4435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Sfruttare il Q&amp;A sistematicamente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656573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identifica gap che l'autore non vede. Il brainstorming è ancora piu potente del semplice Q&amp;A.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894186"/>
            <a:ext cx="7863840" cy="4506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731520" y="1976122"/>
            <a:ext cx="320040" cy="320040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31520" y="197612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1910573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Essere espliciti sulle business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12360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un comportamento non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scritto, Claude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dovrà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inventarlo. Le regole implicite generano bug.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2361220"/>
            <a:ext cx="7863840" cy="4506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31520" y="2443155"/>
            <a:ext cx="320040" cy="320040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31520" y="2443155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237760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Separare planning e implementazione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259064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Claude Desktop per pensare, Claude Code per costruire. Ogni strumento per il suo scopo.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2828253"/>
            <a:ext cx="7863840" cy="4506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731520" y="2910189"/>
            <a:ext cx="320040" cy="320040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31520" y="2910189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284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Iterare sulla specifica, non solo sul codice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3057673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Migliorare il prompt è piu efficace che correggere l'output. La spec è un documento vivo.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295286"/>
            <a:ext cx="7863840" cy="4506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731520" y="3377222"/>
            <a:ext cx="320040" cy="320040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731520" y="337722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331167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rappresenta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cuore dello SDD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88720" y="352470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di esso, Claude Code opera senza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progettuale. Definisce contesto, principi e navigazione.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3762320"/>
            <a:ext cx="7863840" cy="4506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731520" y="3844256"/>
            <a:ext cx="320040" cy="320040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731520" y="384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88720" y="377870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Modularizzazione = efficienza token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88720" y="399174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separati per concern specifico. Claude carica solo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 serve, quando serve.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4229353"/>
            <a:ext cx="7863840" cy="4506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731520" y="4311289"/>
            <a:ext cx="320040" cy="320040"/>
          </a:xfrm>
          <a:prstGeom prst="ellipse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31520" y="4311289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88720" y="4245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rules rendono Claude proattivo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88720" y="45000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LOC, qualita del codice e test coverage diventano automatici.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Mappa Concettuale SDD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1097280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868680"/>
            <a:ext cx="2011680" cy="822960"/>
          </a:xfrm>
          <a:prstGeom prst="rect">
            <a:avLst/>
          </a:prstGeom>
          <a:solidFill>
            <a:srgbClr val="2B7D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868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configurazione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0" y="868680"/>
            <a:ext cx="2011680" cy="822960"/>
          </a:xfrm>
          <a:prstGeom prst="rect">
            <a:avLst/>
          </a:prstGeom>
          <a:solidFill>
            <a:srgbClr val="7C3A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217920" y="868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Mode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&amp; Spec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201168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7432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Modularità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0" y="2651760"/>
            <a:ext cx="2011680" cy="8229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85800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Strutturati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riutilizzabili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2011680" cy="82296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Proattività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2011680" cy="822960"/>
          </a:xfrm>
          <a:prstGeom prst="rect">
            <a:avLst/>
          </a:prstGeom>
          <a:solidFill>
            <a:srgbClr val="EF44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21792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benchmark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Corso Claude Desktop &amp; Claude Code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200" b="1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</a:t>
            </a:r>
            <a:r>
              <a:rPr lang="en-US" sz="3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risultato</a:t>
            </a:r>
            <a:endParaRPr lang="en-US" sz="3200" dirty="0"/>
          </a:p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proporzionale alla </a:t>
            </a:r>
            <a:r>
              <a:rPr lang="en-US" sz="3200" b="1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</a:t>
            </a:r>
            <a:endParaRPr lang="en-US" sz="3200" dirty="0"/>
          </a:p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specifica.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Development: non è vibe coding.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Zaghi  |  stefano.zaghi@gamma-spa.com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Claude Desktop &amp; Claude Code  |  Gamma SPA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5265</Words>
  <Application>Microsoft Office PowerPoint</Application>
  <PresentationFormat>Presentazione su schermo (16:9)</PresentationFormat>
  <Paragraphs>1068</Paragraphs>
  <Slides>50</Slides>
  <Notes>50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50</vt:i4>
      </vt:variant>
    </vt:vector>
  </HeadingPairs>
  <TitlesOfParts>
    <vt:vector size="55" baseType="lpstr">
      <vt:lpstr>Arial</vt:lpstr>
      <vt:lpstr>Calibri</vt:lpstr>
      <vt:lpstr>Consolas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 - Metodologia Completa</dc:title>
  <dc:subject>PptxGenJS Presentation</dc:subject>
  <dc:creator>Stefano Zaghi</dc:creator>
  <cp:lastModifiedBy>Stefano Zaghi</cp:lastModifiedBy>
  <cp:revision>13</cp:revision>
  <dcterms:created xsi:type="dcterms:W3CDTF">2026-04-08T07:38:37Z</dcterms:created>
  <dcterms:modified xsi:type="dcterms:W3CDTF">2026-04-08T12:06:53Z</dcterms:modified>
</cp:coreProperties>
</file>